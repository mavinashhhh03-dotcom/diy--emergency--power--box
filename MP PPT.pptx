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4"/>
      <p:bold r:id="rId15"/>
    </p:embeddedFont>
    <p:embeddedFont>
      <p:font typeface="Arial Italics" panose="020B0604020202020204" charset="0"/>
      <p:regular r:id="rId16"/>
    </p:embeddedFont>
    <p:embeddedFont>
      <p:font typeface="Canva Sans" panose="020B0604020202020204" charset="0"/>
      <p:regular r:id="rId17"/>
    </p:embeddedFont>
    <p:embeddedFont>
      <p:font typeface="Playwrite US Modern" panose="020B060402020202020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0A96C-3A07-4826-AFF4-6BA024F20039}" v="28" dt="2025-12-09T16:49:55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9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3DF19-7C4A-44DC-B01D-DA5AAE41883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58E38-490A-4519-B7E2-AACD1607B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96104" y="-1609169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1609169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6525434"/>
            <a:ext cx="18288000" cy="3761566"/>
            <a:chOff x="0" y="0"/>
            <a:chExt cx="4816593" cy="99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990700"/>
            </a:xfrm>
            <a:custGeom>
              <a:avLst/>
              <a:gdLst/>
              <a:ahLst/>
              <a:cxnLst/>
              <a:rect l="l" t="t" r="r" b="b"/>
              <a:pathLst>
                <a:path w="4816592" h="990700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189785" y="6348817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585725" y="6348817"/>
            <a:ext cx="5588000" cy="4114800"/>
          </a:xfrm>
          <a:custGeom>
            <a:avLst/>
            <a:gdLst/>
            <a:ahLst/>
            <a:cxnLst/>
            <a:rect l="l" t="t" r="r" b="b"/>
            <a:pathLst>
              <a:path w="5588000" h="4114800">
                <a:moveTo>
                  <a:pt x="5588000" y="0"/>
                </a:moveTo>
                <a:lnTo>
                  <a:pt x="0" y="0"/>
                </a:lnTo>
                <a:lnTo>
                  <a:pt x="0" y="4114800"/>
                </a:lnTo>
                <a:lnTo>
                  <a:pt x="5588000" y="4114800"/>
                </a:lnTo>
                <a:lnTo>
                  <a:pt x="55880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11585" y="7365374"/>
            <a:ext cx="6264830" cy="3098243"/>
          </a:xfrm>
          <a:custGeom>
            <a:avLst/>
            <a:gdLst/>
            <a:ahLst/>
            <a:cxnLst/>
            <a:rect l="l" t="t" r="r" b="b"/>
            <a:pathLst>
              <a:path w="6264830" h="3098243">
                <a:moveTo>
                  <a:pt x="0" y="0"/>
                </a:moveTo>
                <a:lnTo>
                  <a:pt x="6264830" y="0"/>
                </a:lnTo>
                <a:lnTo>
                  <a:pt x="6264830" y="3098243"/>
                </a:lnTo>
                <a:lnTo>
                  <a:pt x="0" y="30982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12870" y="2861250"/>
            <a:ext cx="10920670" cy="3500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DIY EMERGENCY POWER BOX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569018" y="1556974"/>
            <a:ext cx="9619912" cy="2024794"/>
            <a:chOff x="0" y="-1817870"/>
            <a:chExt cx="12826550" cy="2699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83963" cy="881856"/>
            </a:xfrm>
            <a:custGeom>
              <a:avLst/>
              <a:gdLst/>
              <a:ahLst/>
              <a:cxnLst/>
              <a:rect l="l" t="t" r="r" b="b"/>
              <a:pathLst>
                <a:path w="11083963" h="881856">
                  <a:moveTo>
                    <a:pt x="0" y="0"/>
                  </a:moveTo>
                  <a:lnTo>
                    <a:pt x="11083963" y="0"/>
                  </a:lnTo>
                  <a:lnTo>
                    <a:pt x="11083963" y="881856"/>
                  </a:lnTo>
                  <a:lnTo>
                    <a:pt x="0" y="881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869168" y="-1817870"/>
              <a:ext cx="10957382" cy="18911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3840"/>
                </a:lnSpc>
              </a:pPr>
              <a:r>
                <a:rPr lang="en-US" sz="3200" b="1" dirty="0">
                  <a:solidFill>
                    <a:srgbClr val="1919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556" y="5828511"/>
            <a:ext cx="4346986" cy="898512"/>
            <a:chOff x="-244072" y="892869"/>
            <a:chExt cx="5795981" cy="1198016"/>
          </a:xfrm>
        </p:grpSpPr>
        <p:sp>
          <p:nvSpPr>
            <p:cNvPr id="15" name="Freeform 15"/>
            <p:cNvSpPr/>
            <p:nvPr/>
          </p:nvSpPr>
          <p:spPr>
            <a:xfrm>
              <a:off x="111109" y="1137057"/>
              <a:ext cx="5440800" cy="953828"/>
            </a:xfrm>
            <a:custGeom>
              <a:avLst/>
              <a:gdLst/>
              <a:ahLst/>
              <a:cxnLst/>
              <a:rect l="l" t="t" r="r" b="b"/>
              <a:pathLst>
                <a:path w="5440800" h="953828">
                  <a:moveTo>
                    <a:pt x="0" y="0"/>
                  </a:moveTo>
                  <a:lnTo>
                    <a:pt x="5440800" y="0"/>
                  </a:lnTo>
                  <a:lnTo>
                    <a:pt x="5440800" y="953828"/>
                  </a:lnTo>
                  <a:lnTo>
                    <a:pt x="0" y="953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-244072" y="892869"/>
              <a:ext cx="5684872" cy="609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2916"/>
                </a:lnSpc>
              </a:pPr>
              <a:r>
                <a:rPr lang="en-US" sz="2700" b="1" dirty="0">
                  <a:solidFill>
                    <a:srgbClr val="1919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CLASS-SECTION:CSE-D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87612" y="2789709"/>
            <a:ext cx="6389190" cy="2742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1A2526"/>
                </a:solidFill>
                <a:latin typeface="Arial"/>
                <a:ea typeface="Arial"/>
                <a:cs typeface="Arial"/>
                <a:sym typeface="Arial"/>
              </a:rPr>
              <a:t>FARIZA SAYYED –</a:t>
            </a:r>
            <a:r>
              <a:rPr lang="en-IN" sz="3200" dirty="0"/>
              <a:t>25R21A05EF</a:t>
            </a:r>
            <a:endParaRPr lang="en-US" sz="2999" dirty="0">
              <a:solidFill>
                <a:srgbClr val="1A252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1A2526"/>
                </a:solidFill>
                <a:latin typeface="Arial"/>
                <a:ea typeface="Arial"/>
                <a:cs typeface="Arial"/>
                <a:sym typeface="Arial"/>
              </a:rPr>
              <a:t>SHIVANI KUMAR–25R21A05EJ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1A2526"/>
                </a:solidFill>
                <a:latin typeface="Arial"/>
                <a:ea typeface="Arial"/>
                <a:cs typeface="Arial"/>
                <a:sym typeface="Arial"/>
              </a:rPr>
              <a:t>ROUNAK JAT–25R21A05EC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1A2526"/>
                </a:solidFill>
                <a:latin typeface="Arial"/>
                <a:ea typeface="Arial"/>
                <a:cs typeface="Arial"/>
                <a:sym typeface="Arial"/>
              </a:rPr>
              <a:t>S.JOEL ALEX–25R21A05EE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1A2526"/>
                </a:solidFill>
                <a:latin typeface="Arial"/>
                <a:ea typeface="Arial"/>
                <a:cs typeface="Arial"/>
                <a:sym typeface="Arial"/>
              </a:rPr>
              <a:t>MOGILI AVINASH-25R21A05DY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1A2526"/>
                </a:solidFill>
                <a:latin typeface="Arial"/>
                <a:ea typeface="Arial"/>
                <a:cs typeface="Arial"/>
                <a:sym typeface="Arial"/>
              </a:rPr>
              <a:t>PEDDI REVANTH- 25R21A05E8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4535363" y="366281"/>
            <a:ext cx="3346526" cy="1018030"/>
            <a:chOff x="0" y="0"/>
            <a:chExt cx="4462035" cy="13573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62018" cy="1357376"/>
            </a:xfrm>
            <a:custGeom>
              <a:avLst/>
              <a:gdLst/>
              <a:ahLst/>
              <a:cxnLst/>
              <a:rect l="l" t="t" r="r" b="b"/>
              <a:pathLst>
                <a:path w="4462018" h="1357376">
                  <a:moveTo>
                    <a:pt x="0" y="0"/>
                  </a:moveTo>
                  <a:lnTo>
                    <a:pt x="4462018" y="0"/>
                  </a:lnTo>
                  <a:lnTo>
                    <a:pt x="4462018" y="1357376"/>
                  </a:lnTo>
                  <a:lnTo>
                    <a:pt x="0" y="1357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44960" y="126450"/>
            <a:ext cx="4001650" cy="1633050"/>
            <a:chOff x="0" y="0"/>
            <a:chExt cx="5335533" cy="2177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35524" cy="2177415"/>
            </a:xfrm>
            <a:custGeom>
              <a:avLst/>
              <a:gdLst/>
              <a:ahLst/>
              <a:cxnLst/>
              <a:rect l="l" t="t" r="r" b="b"/>
              <a:pathLst>
                <a:path w="5335524" h="2177415">
                  <a:moveTo>
                    <a:pt x="0" y="0"/>
                  </a:moveTo>
                  <a:lnTo>
                    <a:pt x="5335524" y="0"/>
                  </a:lnTo>
                  <a:lnTo>
                    <a:pt x="5335524" y="2177415"/>
                  </a:lnTo>
                  <a:lnTo>
                    <a:pt x="0" y="2177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2" name="AutoShape 22"/>
          <p:cNvSpPr/>
          <p:nvPr/>
        </p:nvSpPr>
        <p:spPr>
          <a:xfrm>
            <a:off x="0" y="1603386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7494062" y="2082551"/>
            <a:ext cx="8114154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60" dirty="0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Micro Project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96800" y="13167"/>
            <a:ext cx="5984323" cy="10702368"/>
            <a:chOff x="0" y="0"/>
            <a:chExt cx="1576118" cy="2818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6118" cy="2818731"/>
            </a:xfrm>
            <a:custGeom>
              <a:avLst/>
              <a:gdLst/>
              <a:ahLst/>
              <a:cxnLst/>
              <a:rect l="l" t="t" r="r" b="b"/>
              <a:pathLst>
                <a:path w="1576118" h="2818731">
                  <a:moveTo>
                    <a:pt x="0" y="0"/>
                  </a:moveTo>
                  <a:lnTo>
                    <a:pt x="1576118" y="0"/>
                  </a:lnTo>
                  <a:lnTo>
                    <a:pt x="1576118" y="2818731"/>
                  </a:lnTo>
                  <a:lnTo>
                    <a:pt x="0" y="2818731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576118" cy="2837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7591" y="351610"/>
            <a:ext cx="10160898" cy="2411783"/>
            <a:chOff x="-12701" y="-902787"/>
            <a:chExt cx="13547864" cy="32157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35163" cy="2312924"/>
            </a:xfrm>
            <a:custGeom>
              <a:avLst/>
              <a:gdLst/>
              <a:ahLst/>
              <a:cxnLst/>
              <a:rect l="l" t="t" r="r" b="b"/>
              <a:pathLst>
                <a:path w="13535163" h="2312924">
                  <a:moveTo>
                    <a:pt x="0" y="0"/>
                  </a:moveTo>
                  <a:lnTo>
                    <a:pt x="13535163" y="0"/>
                  </a:lnTo>
                  <a:lnTo>
                    <a:pt x="13535163" y="2312924"/>
                  </a:lnTo>
                  <a:lnTo>
                    <a:pt x="0" y="2312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-12701" y="-902787"/>
              <a:ext cx="13535163" cy="237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399"/>
                </a:lnSpc>
              </a:pPr>
              <a:r>
                <a:rPr lang="en-US" sz="6999" b="1" dirty="0">
                  <a:solidFill>
                    <a:srgbClr val="19191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98489" y="2539942"/>
            <a:ext cx="6560811" cy="5031010"/>
            <a:chOff x="0" y="0"/>
            <a:chExt cx="1727962" cy="13249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7962" cy="1324991"/>
            </a:xfrm>
            <a:custGeom>
              <a:avLst/>
              <a:gdLst/>
              <a:ahLst/>
              <a:cxnLst/>
              <a:rect l="l" t="t" r="r" b="b"/>
              <a:pathLst>
                <a:path w="1727962" h="1324991">
                  <a:moveTo>
                    <a:pt x="1727962" y="35401"/>
                  </a:moveTo>
                  <a:lnTo>
                    <a:pt x="1727962" y="1289590"/>
                  </a:lnTo>
                  <a:cubicBezTo>
                    <a:pt x="1727962" y="1309142"/>
                    <a:pt x="1712113" y="1324991"/>
                    <a:pt x="1692561" y="1324991"/>
                  </a:cubicBezTo>
                  <a:lnTo>
                    <a:pt x="35401" y="1324991"/>
                  </a:lnTo>
                  <a:cubicBezTo>
                    <a:pt x="15849" y="1324991"/>
                    <a:pt x="0" y="1309142"/>
                    <a:pt x="0" y="1289590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lnTo>
                    <a:pt x="1692561" y="0"/>
                  </a:lnTo>
                  <a:cubicBezTo>
                    <a:pt x="1712113" y="0"/>
                    <a:pt x="1727962" y="15849"/>
                    <a:pt x="1727962" y="35401"/>
                  </a:cubicBezTo>
                  <a:close/>
                </a:path>
              </a:pathLst>
            </a:custGeom>
            <a:solidFill>
              <a:srgbClr val="E5DACF"/>
            </a:solidFill>
            <a:ln w="95250" cap="rnd">
              <a:solidFill>
                <a:srgbClr val="E65E07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727962" cy="1344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1089" y="1921388"/>
            <a:ext cx="8182232" cy="4765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b="1" dirty="0"/>
              <a:t>  Frequent power cuts affect charging of      </a:t>
            </a:r>
          </a:p>
          <a:p>
            <a:r>
              <a:rPr lang="en-US" sz="3600" b="1" dirty="0"/>
              <a:t>      essential devices.</a:t>
            </a:r>
          </a:p>
          <a:p>
            <a:r>
              <a:rPr lang="en-US" sz="3600" dirty="0"/>
              <a:t>-</a:t>
            </a:r>
            <a:r>
              <a:rPr lang="en-US" sz="3600" b="1" dirty="0"/>
              <a:t>      Lack of an adjustable portable power  </a:t>
            </a:r>
          </a:p>
          <a:p>
            <a:r>
              <a:rPr lang="en-US" sz="3600" b="1" dirty="0"/>
              <a:t>      source in emergencies leaves devices l   </a:t>
            </a:r>
          </a:p>
          <a:p>
            <a:r>
              <a:rPr lang="en-US" sz="3600" b="1" dirty="0"/>
              <a:t>      like routers, </a:t>
            </a:r>
            <a:r>
              <a:rPr lang="en-US" sz="3600" b="1" dirty="0" err="1"/>
              <a:t>LEDs,and</a:t>
            </a:r>
            <a:r>
              <a:rPr lang="en-US" sz="3600" b="1" dirty="0"/>
              <a:t> phones  </a:t>
            </a:r>
          </a:p>
          <a:p>
            <a:r>
              <a:rPr lang="en-US" sz="3600" b="1" dirty="0"/>
              <a:t>       unusable</a:t>
            </a:r>
          </a:p>
          <a:p>
            <a:pPr marL="457200" indent="-457200">
              <a:buFontTx/>
              <a:buChar char="-"/>
            </a:pPr>
            <a:r>
              <a:rPr lang="en-US" sz="3600" b="1" dirty="0"/>
              <a:t> Need a compact emergency backup tool  </a:t>
            </a:r>
          </a:p>
          <a:p>
            <a:r>
              <a:rPr lang="en-US" sz="3600" b="1" dirty="0"/>
              <a:t>     for  students and homes.</a:t>
            </a:r>
          </a:p>
          <a:p>
            <a:pPr marL="530860" lvl="1" indent="-265430">
              <a:lnSpc>
                <a:spcPts val="2640"/>
              </a:lnSpc>
            </a:pPr>
            <a:endParaRPr lang="en-US" sz="2400" b="1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656745" y="4588722"/>
            <a:ext cx="419703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1" lvl="1" indent="-241300" algn="ctr">
              <a:lnSpc>
                <a:spcPts val="2400"/>
              </a:lnSpc>
            </a:pPr>
            <a:r>
              <a:rPr lang="en-US" sz="2000" i="1" dirty="0">
                <a:solidFill>
                  <a:srgbClr val="191919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</a:p>
        </p:txBody>
      </p:sp>
      <p:sp>
        <p:nvSpPr>
          <p:cNvPr id="13" name="Freeform 13"/>
          <p:cNvSpPr/>
          <p:nvPr/>
        </p:nvSpPr>
        <p:spPr>
          <a:xfrm>
            <a:off x="547117" y="7877259"/>
            <a:ext cx="2446777" cy="3790782"/>
          </a:xfrm>
          <a:custGeom>
            <a:avLst/>
            <a:gdLst/>
            <a:ahLst/>
            <a:cxnLst/>
            <a:rect l="l" t="t" r="r" b="b"/>
            <a:pathLst>
              <a:path w="2446777" h="3790782">
                <a:moveTo>
                  <a:pt x="0" y="0"/>
                </a:moveTo>
                <a:lnTo>
                  <a:pt x="2446777" y="0"/>
                </a:lnTo>
                <a:lnTo>
                  <a:pt x="2446777" y="3790782"/>
                </a:lnTo>
                <a:lnTo>
                  <a:pt x="0" y="3790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F9D7CD-062F-D08F-F9BD-2F26FC349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0" y="2539943"/>
            <a:ext cx="5052785" cy="5031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96104" y="22041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1121138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267825"/>
            <a:ext cx="18288000" cy="1028700"/>
            <a:chOff x="0" y="0"/>
            <a:chExt cx="4816593" cy="270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5DAC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816593" cy="289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001682" y="7438024"/>
            <a:ext cx="3858003" cy="3640552"/>
          </a:xfrm>
          <a:custGeom>
            <a:avLst/>
            <a:gdLst/>
            <a:ahLst/>
            <a:cxnLst/>
            <a:rect l="l" t="t" r="r" b="b"/>
            <a:pathLst>
              <a:path w="3858003" h="3640552">
                <a:moveTo>
                  <a:pt x="0" y="0"/>
                </a:moveTo>
                <a:lnTo>
                  <a:pt x="3858003" y="0"/>
                </a:lnTo>
                <a:lnTo>
                  <a:pt x="3858003" y="3640552"/>
                </a:lnTo>
                <a:lnTo>
                  <a:pt x="0" y="364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94926" y="441403"/>
            <a:ext cx="1152084" cy="1117522"/>
          </a:xfrm>
          <a:custGeom>
            <a:avLst/>
            <a:gdLst/>
            <a:ahLst/>
            <a:cxnLst/>
            <a:rect l="l" t="t" r="r" b="b"/>
            <a:pathLst>
              <a:path w="1152084" h="1117522">
                <a:moveTo>
                  <a:pt x="0" y="0"/>
                </a:moveTo>
                <a:lnTo>
                  <a:pt x="1152084" y="0"/>
                </a:lnTo>
                <a:lnTo>
                  <a:pt x="1152084" y="1117522"/>
                </a:lnTo>
                <a:lnTo>
                  <a:pt x="0" y="1117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627818" y="2277259"/>
            <a:ext cx="9617727" cy="6039500"/>
            <a:chOff x="0" y="0"/>
            <a:chExt cx="2533064" cy="15906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33064" cy="1590650"/>
            </a:xfrm>
            <a:custGeom>
              <a:avLst/>
              <a:gdLst/>
              <a:ahLst/>
              <a:cxnLst/>
              <a:rect l="l" t="t" r="r" b="b"/>
              <a:pathLst>
                <a:path w="2533064" h="1590650">
                  <a:moveTo>
                    <a:pt x="0" y="0"/>
                  </a:moveTo>
                  <a:lnTo>
                    <a:pt x="2533064" y="0"/>
                  </a:lnTo>
                  <a:lnTo>
                    <a:pt x="2533064" y="1590650"/>
                  </a:lnTo>
                  <a:lnTo>
                    <a:pt x="0" y="1590650"/>
                  </a:lnTo>
                  <a:close/>
                </a:path>
              </a:pathLst>
            </a:custGeom>
            <a:solidFill>
              <a:srgbClr val="E5DAC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533064" cy="165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056136" y="3014739"/>
            <a:ext cx="7203164" cy="318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EDE5DE"/>
                </a:solidFill>
                <a:latin typeface="Arial"/>
                <a:ea typeface="Arial"/>
                <a:cs typeface="Arial"/>
                <a:sym typeface="Arial"/>
              </a:rPr>
              <a:t>52% of the students needs power bank during a power cut.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EDE5DE"/>
                </a:solidFill>
                <a:latin typeface="Arial"/>
                <a:ea typeface="Arial"/>
                <a:cs typeface="Arial"/>
                <a:sym typeface="Arial"/>
              </a:rPr>
              <a:t> 60% of the students would use this emergency power box in college.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EDE5DE"/>
                </a:solidFill>
                <a:latin typeface="Arial"/>
                <a:ea typeface="Arial"/>
                <a:cs typeface="Arial"/>
                <a:sym typeface="Arial"/>
              </a:rPr>
              <a:t>76% of the students faces frequent power cuts.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EDE5DE"/>
                </a:solidFill>
                <a:latin typeface="Arial"/>
                <a:ea typeface="Arial"/>
                <a:cs typeface="Arial"/>
                <a:sym typeface="Arial"/>
              </a:rPr>
              <a:t>52% of the students have never heard about emergency power box.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307975"/>
            <a:ext cx="9956805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Survey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3621" y="9518650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9286" y="2327337"/>
            <a:ext cx="6434359" cy="79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Have you ever wished for small portable power source during emergencies?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478873-0E97-19C2-6316-27F8E08BDE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782" y="3171735"/>
            <a:ext cx="8210903" cy="50911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14802B-B41A-3915-C3FA-C4C9C02335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7409" y="5000071"/>
            <a:ext cx="2798991" cy="29828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F1D826-0130-DE18-D80C-E5DE1B56497E}"/>
              </a:ext>
            </a:extLst>
          </p:cNvPr>
          <p:cNvSpPr txBox="1"/>
          <p:nvPr/>
        </p:nvSpPr>
        <p:spPr>
          <a:xfrm>
            <a:off x="11201400" y="2102166"/>
            <a:ext cx="5232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KEY INSIGHTS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3913" y="-3633036"/>
            <a:ext cx="13449198" cy="13073282"/>
            <a:chOff x="0" y="0"/>
            <a:chExt cx="17932264" cy="17431042"/>
          </a:xfrm>
        </p:grpSpPr>
        <p:sp>
          <p:nvSpPr>
            <p:cNvPr id="3" name="Freeform 3"/>
            <p:cNvSpPr/>
            <p:nvPr/>
          </p:nvSpPr>
          <p:spPr>
            <a:xfrm rot="-10062061">
              <a:off x="764301" y="895860"/>
              <a:ext cx="9292374" cy="8177289"/>
            </a:xfrm>
            <a:custGeom>
              <a:avLst/>
              <a:gdLst/>
              <a:ahLst/>
              <a:cxnLst/>
              <a:rect l="l" t="t" r="r" b="b"/>
              <a:pathLst>
                <a:path w="9292374" h="8177289">
                  <a:moveTo>
                    <a:pt x="0" y="0"/>
                  </a:moveTo>
                  <a:lnTo>
                    <a:pt x="9292374" y="0"/>
                  </a:lnTo>
                  <a:lnTo>
                    <a:pt x="9292374" y="8177289"/>
                  </a:lnTo>
                  <a:lnTo>
                    <a:pt x="0" y="8177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639890" y="9253754"/>
              <a:ext cx="9292374" cy="8177289"/>
            </a:xfrm>
            <a:custGeom>
              <a:avLst/>
              <a:gdLst/>
              <a:ahLst/>
              <a:cxnLst/>
              <a:rect l="l" t="t" r="r" b="b"/>
              <a:pathLst>
                <a:path w="9292374" h="8177289">
                  <a:moveTo>
                    <a:pt x="0" y="0"/>
                  </a:moveTo>
                  <a:lnTo>
                    <a:pt x="9292374" y="0"/>
                  </a:lnTo>
                  <a:lnTo>
                    <a:pt x="9292374" y="8177288"/>
                  </a:lnTo>
                  <a:lnTo>
                    <a:pt x="0" y="817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9267825"/>
            <a:ext cx="18288000" cy="1028700"/>
            <a:chOff x="0" y="0"/>
            <a:chExt cx="481659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816593" cy="289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5132" y="3208402"/>
            <a:ext cx="9360540" cy="233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5430" lvl="1" algn="l">
              <a:lnSpc>
                <a:spcPts val="2640"/>
              </a:lnSpc>
            </a:pPr>
            <a:r>
              <a:rPr lang="en-US" sz="2200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30860" lvl="1" indent="-265430" algn="l">
              <a:lnSpc>
                <a:spcPts val="2640"/>
              </a:lnSpc>
            </a:pPr>
            <a:endParaRPr lang="en-US" sz="2200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5429" lvl="1" algn="l">
              <a:lnSpc>
                <a:spcPts val="2639"/>
              </a:lnSpc>
            </a:pPr>
            <a:endParaRPr lang="en-US" sz="2199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39"/>
              </a:lnSpc>
            </a:pPr>
            <a:endParaRPr lang="en-US" sz="2199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0860" lvl="1" indent="-265430" algn="l">
              <a:lnSpc>
                <a:spcPts val="2640"/>
              </a:lnSpc>
              <a:buFont typeface="Arial"/>
              <a:buChar char="•"/>
            </a:pPr>
            <a:endParaRPr lang="en-US" sz="2200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0860" lvl="1" indent="-265430" algn="l">
              <a:lnSpc>
                <a:spcPts val="2640"/>
              </a:lnSpc>
            </a:pPr>
            <a:endParaRPr lang="en-US" sz="2200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0860" lvl="1" indent="-265430" algn="l">
              <a:lnSpc>
                <a:spcPts val="2640"/>
              </a:lnSpc>
            </a:pPr>
            <a:endParaRPr lang="en-US" sz="2200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78023" y="435610"/>
            <a:ext cx="9931953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E5DACF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 &amp; Solution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59105" y="360096"/>
            <a:ext cx="5622818" cy="4434286"/>
            <a:chOff x="0" y="0"/>
            <a:chExt cx="1480907" cy="11678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0907" cy="1167878"/>
            </a:xfrm>
            <a:custGeom>
              <a:avLst/>
              <a:gdLst/>
              <a:ahLst/>
              <a:cxnLst/>
              <a:rect l="l" t="t" r="r" b="b"/>
              <a:pathLst>
                <a:path w="1480907" h="1167878">
                  <a:moveTo>
                    <a:pt x="41306" y="0"/>
                  </a:moveTo>
                  <a:lnTo>
                    <a:pt x="1439601" y="0"/>
                  </a:lnTo>
                  <a:cubicBezTo>
                    <a:pt x="1462413" y="0"/>
                    <a:pt x="1480907" y="18493"/>
                    <a:pt x="1480907" y="41306"/>
                  </a:cubicBezTo>
                  <a:lnTo>
                    <a:pt x="1480907" y="1126571"/>
                  </a:lnTo>
                  <a:cubicBezTo>
                    <a:pt x="1480907" y="1149384"/>
                    <a:pt x="1462413" y="1167878"/>
                    <a:pt x="1439601" y="1167878"/>
                  </a:cubicBezTo>
                  <a:lnTo>
                    <a:pt x="41306" y="1167878"/>
                  </a:lnTo>
                  <a:cubicBezTo>
                    <a:pt x="18493" y="1167878"/>
                    <a:pt x="0" y="1149384"/>
                    <a:pt x="0" y="1126571"/>
                  </a:cubicBezTo>
                  <a:lnTo>
                    <a:pt x="0" y="41306"/>
                  </a:lnTo>
                  <a:cubicBezTo>
                    <a:pt x="0" y="18493"/>
                    <a:pt x="18493" y="0"/>
                    <a:pt x="41306" y="0"/>
                  </a:cubicBezTo>
                  <a:close/>
                </a:path>
              </a:pathLst>
            </a:custGeom>
            <a:solidFill>
              <a:srgbClr val="EDE5DE"/>
            </a:solidFill>
            <a:ln w="38100" cap="rnd">
              <a:solidFill>
                <a:srgbClr val="E65E07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480907" cy="1186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E9D3E20-C56C-E5DE-E6DC-F993CAFB9F6F}"/>
              </a:ext>
            </a:extLst>
          </p:cNvPr>
          <p:cNvSpPr txBox="1"/>
          <p:nvPr/>
        </p:nvSpPr>
        <p:spPr>
          <a:xfrm>
            <a:off x="658525" y="883708"/>
            <a:ext cx="33486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Prototype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9499CE-E01D-7726-CC67-93FE9E329FD7}"/>
              </a:ext>
            </a:extLst>
          </p:cNvPr>
          <p:cNvSpPr txBox="1"/>
          <p:nvPr/>
        </p:nvSpPr>
        <p:spPr>
          <a:xfrm>
            <a:off x="754798" y="4454706"/>
            <a:ext cx="101147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Our Solution – DIY Emergency Power Box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40807C-11C7-9CB2-FFBA-EC9237DADE20}"/>
              </a:ext>
            </a:extLst>
          </p:cNvPr>
          <p:cNvSpPr txBox="1"/>
          <p:nvPr/>
        </p:nvSpPr>
        <p:spPr>
          <a:xfrm>
            <a:off x="658525" y="5984735"/>
            <a:ext cx="110760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Compact power box with USB charging and adjustable output via XL6009.Built-in voltmeter displays accurate voltage . Runs on rechargeable 18650 cells to power routers, LEDs, and small devices</a:t>
            </a:r>
            <a:r>
              <a:rPr lang="en-IN" sz="2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646F6B-DCF1-02C6-C789-355288173DD0}"/>
              </a:ext>
            </a:extLst>
          </p:cNvPr>
          <p:cNvSpPr txBox="1"/>
          <p:nvPr/>
        </p:nvSpPr>
        <p:spPr>
          <a:xfrm>
            <a:off x="658525" y="1750871"/>
            <a:ext cx="98005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Prototype built with Li-ion cells, USB module, XL6009 booster, voltmeter, switch and LED strips assembled to provide a stable portable power output.</a:t>
            </a:r>
            <a:endParaRPr lang="en-IN" sz="3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EB888C-4FDC-5DAB-F0D4-442B9634B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832932" y="-149736"/>
            <a:ext cx="4548488" cy="5243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6742" y="312682"/>
            <a:ext cx="6140917" cy="1245870"/>
            <a:chOff x="0" y="0"/>
            <a:chExt cx="8187889" cy="1661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87890" cy="1661160"/>
            </a:xfrm>
            <a:custGeom>
              <a:avLst/>
              <a:gdLst/>
              <a:ahLst/>
              <a:cxnLst/>
              <a:rect l="l" t="t" r="r" b="b"/>
              <a:pathLst>
                <a:path w="8187890" h="1661160">
                  <a:moveTo>
                    <a:pt x="0" y="0"/>
                  </a:moveTo>
                  <a:lnTo>
                    <a:pt x="8187890" y="0"/>
                  </a:lnTo>
                  <a:lnTo>
                    <a:pt x="8187890" y="1661160"/>
                  </a:lnTo>
                  <a:lnTo>
                    <a:pt x="0" y="1661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87889" cy="170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 dirty="0">
                  <a:solidFill>
                    <a:srgbClr val="19191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Existing Solutions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37533" y="276962"/>
            <a:ext cx="6442423" cy="2219712"/>
            <a:chOff x="-338972" y="-1298456"/>
            <a:chExt cx="8589898" cy="29596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50926" cy="1661160"/>
            </a:xfrm>
            <a:custGeom>
              <a:avLst/>
              <a:gdLst/>
              <a:ahLst/>
              <a:cxnLst/>
              <a:rect l="l" t="t" r="r" b="b"/>
              <a:pathLst>
                <a:path w="8250926" h="1661160">
                  <a:moveTo>
                    <a:pt x="0" y="0"/>
                  </a:moveTo>
                  <a:lnTo>
                    <a:pt x="8250926" y="0"/>
                  </a:lnTo>
                  <a:lnTo>
                    <a:pt x="8250926" y="1661160"/>
                  </a:lnTo>
                  <a:lnTo>
                    <a:pt x="0" y="1661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-338972" y="-1298456"/>
              <a:ext cx="8250926" cy="170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6000"/>
                </a:lnSpc>
              </a:pPr>
              <a:r>
                <a:rPr lang="en-US" sz="5000" b="1" dirty="0">
                  <a:solidFill>
                    <a:srgbClr val="19191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Innovation at work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267825"/>
            <a:ext cx="18288000" cy="1028700"/>
            <a:chOff x="0" y="0"/>
            <a:chExt cx="481659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816593" cy="289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490398" flipH="1">
            <a:off x="-480887" y="6375757"/>
            <a:ext cx="5628820" cy="5765085"/>
          </a:xfrm>
          <a:custGeom>
            <a:avLst/>
            <a:gdLst/>
            <a:ahLst/>
            <a:cxnLst/>
            <a:rect l="l" t="t" r="r" b="b"/>
            <a:pathLst>
              <a:path w="5628820" h="5765085">
                <a:moveTo>
                  <a:pt x="5628820" y="0"/>
                </a:moveTo>
                <a:lnTo>
                  <a:pt x="0" y="0"/>
                </a:lnTo>
                <a:lnTo>
                  <a:pt x="0" y="5765086"/>
                </a:lnTo>
                <a:lnTo>
                  <a:pt x="5628820" y="5765086"/>
                </a:lnTo>
                <a:lnTo>
                  <a:pt x="56288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 flipH="1">
            <a:off x="9143998" y="1722120"/>
            <a:ext cx="0" cy="7719184"/>
          </a:xfrm>
          <a:prstGeom prst="line">
            <a:avLst/>
          </a:prstGeom>
          <a:ln w="38100" cap="flat">
            <a:solidFill>
              <a:srgbClr val="201E21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15" name="TextBox 15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 rot="-9784422">
            <a:off x="16508484" y="-1139645"/>
            <a:ext cx="3236515" cy="4114800"/>
          </a:xfrm>
          <a:custGeom>
            <a:avLst/>
            <a:gdLst/>
            <a:ahLst/>
            <a:cxnLst/>
            <a:rect l="l" t="t" r="r" b="b"/>
            <a:pathLst>
              <a:path w="3236515" h="4114800">
                <a:moveTo>
                  <a:pt x="0" y="0"/>
                </a:moveTo>
                <a:lnTo>
                  <a:pt x="3236515" y="0"/>
                </a:lnTo>
                <a:lnTo>
                  <a:pt x="32365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ADB14F-CC66-8004-A3B5-3D15D2CB8FBD}"/>
              </a:ext>
            </a:extLst>
          </p:cNvPr>
          <p:cNvSpPr txBox="1"/>
          <p:nvPr/>
        </p:nvSpPr>
        <p:spPr>
          <a:xfrm>
            <a:off x="10019294" y="1813572"/>
            <a:ext cx="738663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Compact &amp; low‑cost emergency   backup.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Rechargeable lithium battery  </a:t>
            </a:r>
          </a:p>
          <a:p>
            <a:r>
              <a:rPr lang="en-US" sz="3600" dirty="0"/>
              <a:t>      system.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Multi output : 5V USB output and   </a:t>
            </a:r>
          </a:p>
          <a:p>
            <a:r>
              <a:rPr lang="en-US" sz="3600" dirty="0"/>
              <a:t>      adjustable DC voltage .</a:t>
            </a:r>
          </a:p>
          <a:p>
            <a:r>
              <a:rPr lang="en-US" sz="3600" dirty="0"/>
              <a:t>-    Easy to repair and modify.</a:t>
            </a:r>
            <a:endParaRPr lang="en-US" sz="3600" b="1" dirty="0"/>
          </a:p>
          <a:p>
            <a:endParaRPr 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B2B001-954A-83ED-6174-D6D3CFAB644A}"/>
              </a:ext>
            </a:extLst>
          </p:cNvPr>
          <p:cNvSpPr txBox="1"/>
          <p:nvPr/>
        </p:nvSpPr>
        <p:spPr>
          <a:xfrm>
            <a:off x="325175" y="1813572"/>
            <a:ext cx="86440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Brands:    </a:t>
            </a:r>
            <a:r>
              <a:rPr lang="en-IN" sz="3600" dirty="0" err="1"/>
              <a:t>Jackery</a:t>
            </a:r>
            <a:r>
              <a:rPr lang="en-IN" sz="3600" dirty="0"/>
              <a:t>  , </a:t>
            </a:r>
            <a:r>
              <a:rPr lang="en-IN" sz="3600" dirty="0" err="1"/>
              <a:t>EcoFlow</a:t>
            </a:r>
            <a:r>
              <a:rPr lang="en-IN" sz="3600" dirty="0"/>
              <a:t>  , </a:t>
            </a:r>
            <a:r>
              <a:rPr lang="en-IN" sz="3600" dirty="0" err="1"/>
              <a:t>Bluetti</a:t>
            </a:r>
            <a:r>
              <a:rPr lang="en-IN" sz="3600" dirty="0"/>
              <a:t> , Anker </a:t>
            </a:r>
            <a:r>
              <a:rPr lang="en-IN" sz="3600" b="1" dirty="0"/>
              <a:t>Features: </a:t>
            </a:r>
            <a:r>
              <a:rPr lang="en-IN" sz="3600" dirty="0"/>
              <a:t>Lithium battery, AC/DC USB</a:t>
            </a:r>
          </a:p>
          <a:p>
            <a:r>
              <a:rPr lang="en-IN" sz="3600" dirty="0"/>
              <a:t>                  outputs,  solar charging </a:t>
            </a:r>
          </a:p>
          <a:p>
            <a:r>
              <a:rPr lang="en-IN" sz="3600" b="1" dirty="0"/>
              <a:t>Price:        </a:t>
            </a:r>
            <a:r>
              <a:rPr lang="en-IN" sz="3600" dirty="0"/>
              <a:t>₹25,000–₹80,000 </a:t>
            </a:r>
          </a:p>
          <a:p>
            <a:r>
              <a:rPr lang="en-IN" sz="3600" b="1" dirty="0"/>
              <a:t>Pros:         </a:t>
            </a:r>
            <a:r>
              <a:rPr lang="en-IN" sz="3600" dirty="0"/>
              <a:t>High capacity, sleek design, multi-          </a:t>
            </a:r>
          </a:p>
          <a:p>
            <a:r>
              <a:rPr lang="en-IN" sz="3600" dirty="0"/>
              <a:t>                  device support </a:t>
            </a:r>
          </a:p>
          <a:p>
            <a:r>
              <a:rPr lang="en-IN" sz="3600" b="1" dirty="0"/>
              <a:t>Cons:        </a:t>
            </a:r>
            <a:r>
              <a:rPr lang="en-IN" sz="3600" dirty="0"/>
              <a:t>Expensive, not DIY-friendly, limited </a:t>
            </a:r>
          </a:p>
          <a:p>
            <a:r>
              <a:rPr lang="en-IN" sz="3600" dirty="0"/>
              <a:t>                  customization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673913" y="-3633036"/>
            <a:ext cx="13449198" cy="13073282"/>
            <a:chOff x="0" y="0"/>
            <a:chExt cx="17932264" cy="17431042"/>
          </a:xfrm>
        </p:grpSpPr>
        <p:sp>
          <p:nvSpPr>
            <p:cNvPr id="4" name="Freeform 4"/>
            <p:cNvSpPr/>
            <p:nvPr/>
          </p:nvSpPr>
          <p:spPr>
            <a:xfrm rot="-10062061">
              <a:off x="764301" y="895860"/>
              <a:ext cx="9292374" cy="8177289"/>
            </a:xfrm>
            <a:custGeom>
              <a:avLst/>
              <a:gdLst/>
              <a:ahLst/>
              <a:cxnLst/>
              <a:rect l="l" t="t" r="r" b="b"/>
              <a:pathLst>
                <a:path w="9292374" h="8177289">
                  <a:moveTo>
                    <a:pt x="0" y="0"/>
                  </a:moveTo>
                  <a:lnTo>
                    <a:pt x="9292374" y="0"/>
                  </a:lnTo>
                  <a:lnTo>
                    <a:pt x="9292374" y="8177289"/>
                  </a:lnTo>
                  <a:lnTo>
                    <a:pt x="0" y="8177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8639890" y="9253754"/>
              <a:ext cx="9292374" cy="8177289"/>
            </a:xfrm>
            <a:custGeom>
              <a:avLst/>
              <a:gdLst/>
              <a:ahLst/>
              <a:cxnLst/>
              <a:rect l="l" t="t" r="r" b="b"/>
              <a:pathLst>
                <a:path w="9292374" h="8177289">
                  <a:moveTo>
                    <a:pt x="0" y="0"/>
                  </a:moveTo>
                  <a:lnTo>
                    <a:pt x="9292374" y="0"/>
                  </a:lnTo>
                  <a:lnTo>
                    <a:pt x="9292374" y="8177288"/>
                  </a:lnTo>
                  <a:lnTo>
                    <a:pt x="0" y="817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086350" y="307975"/>
            <a:ext cx="8115300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E5DACF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Overview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9258300"/>
            <a:ext cx="18288000" cy="1210646"/>
            <a:chOff x="0" y="0"/>
            <a:chExt cx="4816593" cy="3188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318853"/>
            </a:xfrm>
            <a:custGeom>
              <a:avLst/>
              <a:gdLst/>
              <a:ahLst/>
              <a:cxnLst/>
              <a:rect l="l" t="t" r="r" b="b"/>
              <a:pathLst>
                <a:path w="4816592" h="318853">
                  <a:moveTo>
                    <a:pt x="0" y="0"/>
                  </a:moveTo>
                  <a:lnTo>
                    <a:pt x="4816592" y="0"/>
                  </a:lnTo>
                  <a:lnTo>
                    <a:pt x="4816592" y="318853"/>
                  </a:lnTo>
                  <a:lnTo>
                    <a:pt x="0" y="318853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816593" cy="337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A1D4F9-0038-FDC8-4980-1694399F99B8}"/>
              </a:ext>
            </a:extLst>
          </p:cNvPr>
          <p:cNvSpPr txBox="1"/>
          <p:nvPr/>
        </p:nvSpPr>
        <p:spPr>
          <a:xfrm>
            <a:off x="1066800" y="2205294"/>
            <a:ext cx="121348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- Provides emergency backup when power fails.</a:t>
            </a:r>
          </a:p>
          <a:p>
            <a:r>
              <a:rPr lang="en-US" sz="4800" dirty="0"/>
              <a:t>- Suitable for students, labs, and small electronics.</a:t>
            </a:r>
          </a:p>
          <a:p>
            <a:r>
              <a:rPr lang="en-US" sz="4800" dirty="0"/>
              <a:t>- Adjustable output prevents device damage.</a:t>
            </a:r>
          </a:p>
          <a:p>
            <a:r>
              <a:rPr lang="en-US" sz="4800" dirty="0"/>
              <a:t>- Lightweight &amp; portable.</a:t>
            </a:r>
          </a:p>
          <a:p>
            <a:r>
              <a:rPr lang="en-US" sz="4800" dirty="0"/>
              <a:t>- Battery-powered, no external power needed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EEAE2-B00D-721F-DE23-B3F21F56FDBA}"/>
              </a:ext>
            </a:extLst>
          </p:cNvPr>
          <p:cNvSpPr txBox="1"/>
          <p:nvPr/>
        </p:nvSpPr>
        <p:spPr>
          <a:xfrm>
            <a:off x="4077793" y="727928"/>
            <a:ext cx="110760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b="1" dirty="0"/>
              <a:t>Product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855568" y="4726441"/>
            <a:ext cx="2576864" cy="3240000"/>
          </a:xfrm>
          <a:custGeom>
            <a:avLst/>
            <a:gdLst/>
            <a:ahLst/>
            <a:cxnLst/>
            <a:rect l="l" t="t" r="r" b="b"/>
            <a:pathLst>
              <a:path w="2576864" h="3250631">
                <a:moveTo>
                  <a:pt x="0" y="0"/>
                </a:moveTo>
                <a:lnTo>
                  <a:pt x="2576864" y="0"/>
                </a:lnTo>
                <a:lnTo>
                  <a:pt x="2576864" y="3250631"/>
                </a:lnTo>
                <a:lnTo>
                  <a:pt x="0" y="3250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523500"/>
            <a:ext cx="6480000" cy="3240000"/>
            <a:chOff x="0" y="0"/>
            <a:chExt cx="8735263" cy="4470504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8670521" cy="4407003"/>
            </a:xfrm>
            <a:custGeom>
              <a:avLst/>
              <a:gdLst/>
              <a:ahLst/>
              <a:cxnLst/>
              <a:rect l="l" t="t" r="r" b="b"/>
              <a:pathLst>
                <a:path w="8670521" h="4407003">
                  <a:moveTo>
                    <a:pt x="8579053" y="4407003"/>
                  </a:moveTo>
                  <a:lnTo>
                    <a:pt x="92710" y="4407003"/>
                  </a:lnTo>
                  <a:cubicBezTo>
                    <a:pt x="41910" y="4407003"/>
                    <a:pt x="0" y="4365094"/>
                    <a:pt x="0" y="43142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577783" y="0"/>
                  </a:lnTo>
                  <a:cubicBezTo>
                    <a:pt x="8628583" y="0"/>
                    <a:pt x="8670493" y="41910"/>
                    <a:pt x="8670493" y="92710"/>
                  </a:cubicBezTo>
                  <a:lnTo>
                    <a:pt x="8670493" y="4313024"/>
                  </a:lnTo>
                  <a:cubicBezTo>
                    <a:pt x="8671763" y="4365094"/>
                    <a:pt x="8629853" y="4407003"/>
                    <a:pt x="8579053" y="4407003"/>
                  </a:cubicBez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8735263" cy="4470504"/>
            </a:xfrm>
            <a:custGeom>
              <a:avLst/>
              <a:gdLst/>
              <a:ahLst/>
              <a:cxnLst/>
              <a:rect l="l" t="t" r="r" b="b"/>
              <a:pathLst>
                <a:path w="8735263" h="4470504">
                  <a:moveTo>
                    <a:pt x="8610803" y="59690"/>
                  </a:moveTo>
                  <a:cubicBezTo>
                    <a:pt x="8646363" y="59690"/>
                    <a:pt x="8675573" y="88900"/>
                    <a:pt x="8675573" y="124460"/>
                  </a:cubicBezTo>
                  <a:lnTo>
                    <a:pt x="8675573" y="4346044"/>
                  </a:lnTo>
                  <a:cubicBezTo>
                    <a:pt x="8675573" y="4381604"/>
                    <a:pt x="8646363" y="4410814"/>
                    <a:pt x="8610803" y="4410814"/>
                  </a:cubicBezTo>
                  <a:lnTo>
                    <a:pt x="124460" y="4410814"/>
                  </a:lnTo>
                  <a:cubicBezTo>
                    <a:pt x="88900" y="4410814"/>
                    <a:pt x="59690" y="4381604"/>
                    <a:pt x="59690" y="43460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610803" y="59690"/>
                  </a:lnTo>
                  <a:moveTo>
                    <a:pt x="86108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346044"/>
                  </a:lnTo>
                  <a:cubicBezTo>
                    <a:pt x="0" y="4414624"/>
                    <a:pt x="55880" y="4470504"/>
                    <a:pt x="124460" y="4470504"/>
                  </a:cubicBezTo>
                  <a:lnTo>
                    <a:pt x="8610803" y="4470504"/>
                  </a:lnTo>
                  <a:cubicBezTo>
                    <a:pt x="8679383" y="4470504"/>
                    <a:pt x="8735263" y="4414624"/>
                    <a:pt x="8735263" y="4346044"/>
                  </a:cubicBezTo>
                  <a:lnTo>
                    <a:pt x="8735263" y="124460"/>
                  </a:lnTo>
                  <a:cubicBezTo>
                    <a:pt x="8735263" y="55880"/>
                    <a:pt x="8679383" y="0"/>
                    <a:pt x="8610803" y="0"/>
                  </a:cubicBezTo>
                  <a:close/>
                </a:path>
              </a:pathLst>
            </a:custGeom>
            <a:solidFill>
              <a:srgbClr val="1A252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461" y="7100727"/>
            <a:ext cx="6480000" cy="3240000"/>
            <a:chOff x="0" y="0"/>
            <a:chExt cx="8735263" cy="4470504"/>
          </a:xfrm>
        </p:grpSpPr>
        <p:sp>
          <p:nvSpPr>
            <p:cNvPr id="7" name="Freeform 7"/>
            <p:cNvSpPr/>
            <p:nvPr/>
          </p:nvSpPr>
          <p:spPr>
            <a:xfrm>
              <a:off x="31750" y="31750"/>
              <a:ext cx="8670521" cy="4407003"/>
            </a:xfrm>
            <a:custGeom>
              <a:avLst/>
              <a:gdLst/>
              <a:ahLst/>
              <a:cxnLst/>
              <a:rect l="l" t="t" r="r" b="b"/>
              <a:pathLst>
                <a:path w="8670521" h="4407003">
                  <a:moveTo>
                    <a:pt x="8579053" y="4407003"/>
                  </a:moveTo>
                  <a:lnTo>
                    <a:pt x="92710" y="4407003"/>
                  </a:lnTo>
                  <a:cubicBezTo>
                    <a:pt x="41910" y="4407003"/>
                    <a:pt x="0" y="4365094"/>
                    <a:pt x="0" y="43142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577783" y="0"/>
                  </a:lnTo>
                  <a:cubicBezTo>
                    <a:pt x="8628583" y="0"/>
                    <a:pt x="8670493" y="41910"/>
                    <a:pt x="8670493" y="92710"/>
                  </a:cubicBezTo>
                  <a:lnTo>
                    <a:pt x="8670493" y="4313024"/>
                  </a:lnTo>
                  <a:cubicBezTo>
                    <a:pt x="8671763" y="4365094"/>
                    <a:pt x="8629853" y="4407003"/>
                    <a:pt x="8579053" y="4407003"/>
                  </a:cubicBez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8735263" cy="4470504"/>
            </a:xfrm>
            <a:custGeom>
              <a:avLst/>
              <a:gdLst/>
              <a:ahLst/>
              <a:cxnLst/>
              <a:rect l="l" t="t" r="r" b="b"/>
              <a:pathLst>
                <a:path w="8735263" h="4470504">
                  <a:moveTo>
                    <a:pt x="8610803" y="59690"/>
                  </a:moveTo>
                  <a:cubicBezTo>
                    <a:pt x="8646363" y="59690"/>
                    <a:pt x="8675573" y="88900"/>
                    <a:pt x="8675573" y="124460"/>
                  </a:cubicBezTo>
                  <a:lnTo>
                    <a:pt x="8675573" y="4346044"/>
                  </a:lnTo>
                  <a:cubicBezTo>
                    <a:pt x="8675573" y="4381604"/>
                    <a:pt x="8646363" y="4410814"/>
                    <a:pt x="8610803" y="4410814"/>
                  </a:cubicBezTo>
                  <a:lnTo>
                    <a:pt x="124460" y="4410814"/>
                  </a:lnTo>
                  <a:cubicBezTo>
                    <a:pt x="88900" y="4410814"/>
                    <a:pt x="59690" y="4381604"/>
                    <a:pt x="59690" y="43460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610803" y="59690"/>
                  </a:lnTo>
                  <a:moveTo>
                    <a:pt x="86108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346044"/>
                  </a:lnTo>
                  <a:cubicBezTo>
                    <a:pt x="0" y="4414624"/>
                    <a:pt x="55880" y="4470504"/>
                    <a:pt x="124460" y="4470504"/>
                  </a:cubicBezTo>
                  <a:lnTo>
                    <a:pt x="8610803" y="4470504"/>
                  </a:lnTo>
                  <a:cubicBezTo>
                    <a:pt x="8679383" y="4470504"/>
                    <a:pt x="8735263" y="4414624"/>
                    <a:pt x="8735263" y="4346044"/>
                  </a:cubicBezTo>
                  <a:lnTo>
                    <a:pt x="8735263" y="124460"/>
                  </a:lnTo>
                  <a:cubicBezTo>
                    <a:pt x="8735263" y="55880"/>
                    <a:pt x="8679383" y="0"/>
                    <a:pt x="8610803" y="0"/>
                  </a:cubicBezTo>
                  <a:close/>
                </a:path>
              </a:pathLst>
            </a:custGeom>
            <a:solidFill>
              <a:srgbClr val="1A2526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1783526" y="7047000"/>
            <a:ext cx="6480000" cy="3240000"/>
            <a:chOff x="0" y="0"/>
            <a:chExt cx="8735263" cy="4470504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8670521" cy="4407003"/>
            </a:xfrm>
            <a:custGeom>
              <a:avLst/>
              <a:gdLst/>
              <a:ahLst/>
              <a:cxnLst/>
              <a:rect l="l" t="t" r="r" b="b"/>
              <a:pathLst>
                <a:path w="8670521" h="4407003">
                  <a:moveTo>
                    <a:pt x="8579053" y="4407003"/>
                  </a:moveTo>
                  <a:lnTo>
                    <a:pt x="92710" y="4407003"/>
                  </a:lnTo>
                  <a:cubicBezTo>
                    <a:pt x="41910" y="4407003"/>
                    <a:pt x="0" y="4365094"/>
                    <a:pt x="0" y="43142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577783" y="0"/>
                  </a:lnTo>
                  <a:cubicBezTo>
                    <a:pt x="8628583" y="0"/>
                    <a:pt x="8670493" y="41910"/>
                    <a:pt x="8670493" y="92710"/>
                  </a:cubicBezTo>
                  <a:lnTo>
                    <a:pt x="8670493" y="4313024"/>
                  </a:lnTo>
                  <a:cubicBezTo>
                    <a:pt x="8671763" y="4365094"/>
                    <a:pt x="8629853" y="4407003"/>
                    <a:pt x="8579053" y="4407003"/>
                  </a:cubicBez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8735263" cy="4470504"/>
            </a:xfrm>
            <a:custGeom>
              <a:avLst/>
              <a:gdLst/>
              <a:ahLst/>
              <a:cxnLst/>
              <a:rect l="l" t="t" r="r" b="b"/>
              <a:pathLst>
                <a:path w="8735263" h="4470504">
                  <a:moveTo>
                    <a:pt x="8610803" y="59690"/>
                  </a:moveTo>
                  <a:cubicBezTo>
                    <a:pt x="8646363" y="59690"/>
                    <a:pt x="8675573" y="88900"/>
                    <a:pt x="8675573" y="124460"/>
                  </a:cubicBezTo>
                  <a:lnTo>
                    <a:pt x="8675573" y="4346044"/>
                  </a:lnTo>
                  <a:cubicBezTo>
                    <a:pt x="8675573" y="4381604"/>
                    <a:pt x="8646363" y="4410814"/>
                    <a:pt x="8610803" y="4410814"/>
                  </a:cubicBezTo>
                  <a:lnTo>
                    <a:pt x="124460" y="4410814"/>
                  </a:lnTo>
                  <a:cubicBezTo>
                    <a:pt x="88900" y="4410814"/>
                    <a:pt x="59690" y="4381604"/>
                    <a:pt x="59690" y="43460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610803" y="59690"/>
                  </a:lnTo>
                  <a:moveTo>
                    <a:pt x="86108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346044"/>
                  </a:lnTo>
                  <a:cubicBezTo>
                    <a:pt x="0" y="4414624"/>
                    <a:pt x="55880" y="4470504"/>
                    <a:pt x="124460" y="4470504"/>
                  </a:cubicBezTo>
                  <a:lnTo>
                    <a:pt x="8610803" y="4470504"/>
                  </a:lnTo>
                  <a:cubicBezTo>
                    <a:pt x="8679383" y="4470504"/>
                    <a:pt x="8735263" y="4414624"/>
                    <a:pt x="8735263" y="4346044"/>
                  </a:cubicBezTo>
                  <a:lnTo>
                    <a:pt x="8735263" y="124460"/>
                  </a:lnTo>
                  <a:cubicBezTo>
                    <a:pt x="8735263" y="55880"/>
                    <a:pt x="8679383" y="0"/>
                    <a:pt x="8610803" y="0"/>
                  </a:cubicBezTo>
                  <a:close/>
                </a:path>
              </a:pathLst>
            </a:custGeom>
            <a:solidFill>
              <a:srgbClr val="1A252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808000" y="3523500"/>
            <a:ext cx="6480000" cy="3240000"/>
            <a:chOff x="0" y="0"/>
            <a:chExt cx="8735263" cy="4470504"/>
          </a:xfrm>
        </p:grpSpPr>
        <p:sp>
          <p:nvSpPr>
            <p:cNvPr id="13" name="Freeform 13"/>
            <p:cNvSpPr/>
            <p:nvPr/>
          </p:nvSpPr>
          <p:spPr>
            <a:xfrm>
              <a:off x="31750" y="31750"/>
              <a:ext cx="8670521" cy="4407003"/>
            </a:xfrm>
            <a:custGeom>
              <a:avLst/>
              <a:gdLst/>
              <a:ahLst/>
              <a:cxnLst/>
              <a:rect l="l" t="t" r="r" b="b"/>
              <a:pathLst>
                <a:path w="8670521" h="4407003">
                  <a:moveTo>
                    <a:pt x="8579053" y="4407003"/>
                  </a:moveTo>
                  <a:lnTo>
                    <a:pt x="92710" y="4407003"/>
                  </a:lnTo>
                  <a:cubicBezTo>
                    <a:pt x="41910" y="4407003"/>
                    <a:pt x="0" y="4365094"/>
                    <a:pt x="0" y="43142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577783" y="0"/>
                  </a:lnTo>
                  <a:cubicBezTo>
                    <a:pt x="8628583" y="0"/>
                    <a:pt x="8670493" y="41910"/>
                    <a:pt x="8670493" y="92710"/>
                  </a:cubicBezTo>
                  <a:lnTo>
                    <a:pt x="8670493" y="4313024"/>
                  </a:lnTo>
                  <a:cubicBezTo>
                    <a:pt x="8671763" y="4365094"/>
                    <a:pt x="8629853" y="4407003"/>
                    <a:pt x="8579053" y="4407003"/>
                  </a:cubicBez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8735263" cy="4470504"/>
            </a:xfrm>
            <a:custGeom>
              <a:avLst/>
              <a:gdLst/>
              <a:ahLst/>
              <a:cxnLst/>
              <a:rect l="l" t="t" r="r" b="b"/>
              <a:pathLst>
                <a:path w="8735263" h="4470504">
                  <a:moveTo>
                    <a:pt x="8610803" y="59690"/>
                  </a:moveTo>
                  <a:cubicBezTo>
                    <a:pt x="8646363" y="59690"/>
                    <a:pt x="8675573" y="88900"/>
                    <a:pt x="8675573" y="124460"/>
                  </a:cubicBezTo>
                  <a:lnTo>
                    <a:pt x="8675573" y="4346044"/>
                  </a:lnTo>
                  <a:cubicBezTo>
                    <a:pt x="8675573" y="4381604"/>
                    <a:pt x="8646363" y="4410814"/>
                    <a:pt x="8610803" y="4410814"/>
                  </a:cubicBezTo>
                  <a:lnTo>
                    <a:pt x="124460" y="4410814"/>
                  </a:lnTo>
                  <a:cubicBezTo>
                    <a:pt x="88900" y="4410814"/>
                    <a:pt x="59690" y="4381604"/>
                    <a:pt x="59690" y="43460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610803" y="59690"/>
                  </a:lnTo>
                  <a:moveTo>
                    <a:pt x="86108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346044"/>
                  </a:lnTo>
                  <a:cubicBezTo>
                    <a:pt x="0" y="4414624"/>
                    <a:pt x="55880" y="4470504"/>
                    <a:pt x="124460" y="4470504"/>
                  </a:cubicBezTo>
                  <a:lnTo>
                    <a:pt x="8610803" y="4470504"/>
                  </a:lnTo>
                  <a:cubicBezTo>
                    <a:pt x="8679383" y="4470504"/>
                    <a:pt x="8735263" y="4414624"/>
                    <a:pt x="8735263" y="4346044"/>
                  </a:cubicBezTo>
                  <a:lnTo>
                    <a:pt x="8735263" y="124460"/>
                  </a:lnTo>
                  <a:cubicBezTo>
                    <a:pt x="8735263" y="55880"/>
                    <a:pt x="8679383" y="0"/>
                    <a:pt x="8610803" y="0"/>
                  </a:cubicBezTo>
                  <a:close/>
                </a:path>
              </a:pathLst>
            </a:custGeom>
            <a:solidFill>
              <a:srgbClr val="1A252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18288000" cy="1650983"/>
            <a:chOff x="0" y="0"/>
            <a:chExt cx="4816593" cy="434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6592" cy="434827"/>
            </a:xfrm>
            <a:custGeom>
              <a:avLst/>
              <a:gdLst/>
              <a:ahLst/>
              <a:cxnLst/>
              <a:rect l="l" t="t" r="r" b="b"/>
              <a:pathLst>
                <a:path w="4816592" h="434827">
                  <a:moveTo>
                    <a:pt x="0" y="0"/>
                  </a:moveTo>
                  <a:lnTo>
                    <a:pt x="4816592" y="0"/>
                  </a:lnTo>
                  <a:lnTo>
                    <a:pt x="4816592" y="434827"/>
                  </a:lnTo>
                  <a:lnTo>
                    <a:pt x="0" y="434827"/>
                  </a:lnTo>
                  <a:close/>
                </a:path>
              </a:pathLst>
            </a:custGeom>
            <a:solidFill>
              <a:srgbClr val="E5DAC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4816593" cy="491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22127" y="0"/>
            <a:ext cx="7043746" cy="1734693"/>
            <a:chOff x="0" y="0"/>
            <a:chExt cx="9391661" cy="23129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91661" cy="2312924"/>
            </a:xfrm>
            <a:custGeom>
              <a:avLst/>
              <a:gdLst/>
              <a:ahLst/>
              <a:cxnLst/>
              <a:rect l="l" t="t" r="r" b="b"/>
              <a:pathLst>
                <a:path w="9391661" h="2312924">
                  <a:moveTo>
                    <a:pt x="0" y="0"/>
                  </a:moveTo>
                  <a:lnTo>
                    <a:pt x="9391661" y="0"/>
                  </a:lnTo>
                  <a:lnTo>
                    <a:pt x="9391661" y="2312924"/>
                  </a:lnTo>
                  <a:lnTo>
                    <a:pt x="0" y="2312924"/>
                  </a:lnTo>
                  <a:close/>
                </a:path>
              </a:pathLst>
            </a:custGeom>
            <a:solidFill>
              <a:srgbClr val="E5DACF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9391661" cy="2379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8400"/>
                </a:lnSpc>
              </a:pPr>
              <a:r>
                <a:rPr lang="en-US" sz="7000" b="1">
                  <a:solidFill>
                    <a:srgbClr val="E65E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SWOC Analysis</a:t>
              </a:r>
            </a:p>
          </p:txBody>
        </p:sp>
      </p:grpSp>
      <p:sp>
        <p:nvSpPr>
          <p:cNvPr id="21" name="Freeform 21"/>
          <p:cNvSpPr/>
          <p:nvPr/>
        </p:nvSpPr>
        <p:spPr>
          <a:xfrm rot="4048510">
            <a:off x="7518729" y="4560341"/>
            <a:ext cx="846661" cy="1028334"/>
          </a:xfrm>
          <a:custGeom>
            <a:avLst/>
            <a:gdLst/>
            <a:ahLst/>
            <a:cxnLst/>
            <a:rect l="l" t="t" r="r" b="b"/>
            <a:pathLst>
              <a:path w="846661" h="1028334">
                <a:moveTo>
                  <a:pt x="0" y="0"/>
                </a:moveTo>
                <a:lnTo>
                  <a:pt x="846661" y="0"/>
                </a:lnTo>
                <a:lnTo>
                  <a:pt x="846661" y="1028334"/>
                </a:lnTo>
                <a:lnTo>
                  <a:pt x="0" y="102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828800" y="3691846"/>
            <a:ext cx="21580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92265" y="7371899"/>
            <a:ext cx="283114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Weaknesses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02818" y="7272356"/>
            <a:ext cx="25365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20055" y="3749538"/>
            <a:ext cx="3054968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Opportunities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endParaRPr lang="en-US" sz="32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74674" y="4520563"/>
            <a:ext cx="6039501" cy="2171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800" dirty="0"/>
              <a:t>• </a:t>
            </a:r>
            <a:r>
              <a:rPr lang="en-US" sz="2400" b="1" dirty="0"/>
              <a:t>Portable </a:t>
            </a:r>
          </a:p>
          <a:p>
            <a:pPr>
              <a:lnSpc>
                <a:spcPts val="3359"/>
              </a:lnSpc>
            </a:pPr>
            <a:r>
              <a:rPr lang="en-US" sz="2400" b="1" dirty="0"/>
              <a:t>• Multi‑function </a:t>
            </a:r>
          </a:p>
          <a:p>
            <a:pPr>
              <a:lnSpc>
                <a:spcPts val="3359"/>
              </a:lnSpc>
            </a:pPr>
            <a:r>
              <a:rPr lang="en-US" sz="2400" b="1" dirty="0"/>
              <a:t>• Low‑cost </a:t>
            </a:r>
          </a:p>
          <a:p>
            <a:pPr>
              <a:lnSpc>
                <a:spcPts val="3359"/>
              </a:lnSpc>
            </a:pPr>
            <a:r>
              <a:rPr lang="en-US" sz="2400" b="1" dirty="0"/>
              <a:t>• Easy to build</a:t>
            </a:r>
          </a:p>
          <a:p>
            <a:pPr algn="l">
              <a:lnSpc>
                <a:spcPts val="3359"/>
              </a:lnSpc>
            </a:pPr>
            <a:endParaRPr lang="en-US" sz="2799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266209" y="5074508"/>
            <a:ext cx="1755577" cy="629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SWOC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184DAA-276E-B15E-B43F-3D85261C9834}"/>
              </a:ext>
            </a:extLst>
          </p:cNvPr>
          <p:cNvSpPr txBox="1"/>
          <p:nvPr/>
        </p:nvSpPr>
        <p:spPr>
          <a:xfrm>
            <a:off x="817173" y="8801113"/>
            <a:ext cx="473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• Limited capacity </a:t>
            </a:r>
          </a:p>
          <a:p>
            <a:r>
              <a:rPr lang="en-US" sz="2400" b="1" dirty="0"/>
              <a:t>• Manual voltage adjustment</a:t>
            </a:r>
          </a:p>
          <a:p>
            <a:endParaRPr 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8C3CA9-B29A-2825-66A0-A2FE182B6759}"/>
              </a:ext>
            </a:extLst>
          </p:cNvPr>
          <p:cNvSpPr txBox="1"/>
          <p:nvPr/>
        </p:nvSpPr>
        <p:spPr>
          <a:xfrm>
            <a:off x="12263766" y="4804772"/>
            <a:ext cx="9222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Expand to solar‑charging</a:t>
            </a:r>
          </a:p>
          <a:p>
            <a:r>
              <a:rPr lang="en-US" sz="2400" b="1" dirty="0"/>
              <a:t>  Add USB‑C fast charging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3E58E1-8F25-E935-7D5C-4BB397F66607}"/>
              </a:ext>
            </a:extLst>
          </p:cNvPr>
          <p:cNvSpPr txBox="1"/>
          <p:nvPr/>
        </p:nvSpPr>
        <p:spPr>
          <a:xfrm>
            <a:off x="12395800" y="8524613"/>
            <a:ext cx="10329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• Battery safety </a:t>
            </a:r>
          </a:p>
          <a:p>
            <a:r>
              <a:rPr lang="en-US" sz="2400" b="1" dirty="0"/>
              <a:t>• Heat during boosting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E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768" y="126227"/>
            <a:ext cx="18288000" cy="1650983"/>
            <a:chOff x="0" y="0"/>
            <a:chExt cx="4816593" cy="4348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4827"/>
            </a:xfrm>
            <a:custGeom>
              <a:avLst/>
              <a:gdLst/>
              <a:ahLst/>
              <a:cxnLst/>
              <a:rect l="l" t="t" r="r" b="b"/>
              <a:pathLst>
                <a:path w="4816592" h="434827">
                  <a:moveTo>
                    <a:pt x="0" y="0"/>
                  </a:moveTo>
                  <a:lnTo>
                    <a:pt x="4816592" y="0"/>
                  </a:lnTo>
                  <a:lnTo>
                    <a:pt x="4816592" y="434827"/>
                  </a:lnTo>
                  <a:lnTo>
                    <a:pt x="0" y="434827"/>
                  </a:lnTo>
                  <a:close/>
                </a:path>
              </a:pathLst>
            </a:custGeom>
            <a:solidFill>
              <a:srgbClr val="E5DAC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91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1306" y="-252059"/>
            <a:ext cx="15484435" cy="2465685"/>
            <a:chOff x="0" y="-57150"/>
            <a:chExt cx="20438387" cy="3254534"/>
          </a:xfrm>
        </p:grpSpPr>
        <p:sp>
          <p:nvSpPr>
            <p:cNvPr id="6" name="Freeform 6"/>
            <p:cNvSpPr/>
            <p:nvPr/>
          </p:nvSpPr>
          <p:spPr>
            <a:xfrm>
              <a:off x="1131305" y="884460"/>
              <a:ext cx="19307082" cy="2312924"/>
            </a:xfrm>
            <a:custGeom>
              <a:avLst/>
              <a:gdLst/>
              <a:ahLst/>
              <a:cxnLst/>
              <a:rect l="l" t="t" r="r" b="b"/>
              <a:pathLst>
                <a:path w="19307082" h="2312924">
                  <a:moveTo>
                    <a:pt x="0" y="0"/>
                  </a:moveTo>
                  <a:lnTo>
                    <a:pt x="19307082" y="0"/>
                  </a:lnTo>
                  <a:lnTo>
                    <a:pt x="19307082" y="2312924"/>
                  </a:lnTo>
                  <a:lnTo>
                    <a:pt x="0" y="2312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307082" cy="2370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8399"/>
                </a:lnSpc>
              </a:pPr>
              <a:r>
                <a:rPr lang="en-US" sz="6999" b="1" dirty="0">
                  <a:solidFill>
                    <a:srgbClr val="E65E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(BMC) Business Model Canvas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3087000"/>
            <a:ext cx="3960000" cy="7200000"/>
            <a:chOff x="0" y="0"/>
            <a:chExt cx="5476311" cy="1022505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5411569" cy="10161550"/>
            </a:xfrm>
            <a:custGeom>
              <a:avLst/>
              <a:gdLst/>
              <a:ahLst/>
              <a:cxnLst/>
              <a:rect l="l" t="t" r="r" b="b"/>
              <a:pathLst>
                <a:path w="5411569" h="10161550">
                  <a:moveTo>
                    <a:pt x="5320101" y="10161550"/>
                  </a:moveTo>
                  <a:lnTo>
                    <a:pt x="92710" y="10161550"/>
                  </a:lnTo>
                  <a:cubicBezTo>
                    <a:pt x="41910" y="10161550"/>
                    <a:pt x="0" y="10119640"/>
                    <a:pt x="0" y="1006884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318831" y="0"/>
                  </a:lnTo>
                  <a:cubicBezTo>
                    <a:pt x="5369631" y="0"/>
                    <a:pt x="5411541" y="41910"/>
                    <a:pt x="5411541" y="92710"/>
                  </a:cubicBezTo>
                  <a:lnTo>
                    <a:pt x="5411541" y="10067571"/>
                  </a:lnTo>
                  <a:cubicBezTo>
                    <a:pt x="5412811" y="10119640"/>
                    <a:pt x="5370901" y="10161550"/>
                    <a:pt x="5320101" y="1016155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5476311" cy="10225050"/>
            </a:xfrm>
            <a:custGeom>
              <a:avLst/>
              <a:gdLst/>
              <a:ahLst/>
              <a:cxnLst/>
              <a:rect l="l" t="t" r="r" b="b"/>
              <a:pathLst>
                <a:path w="5476311" h="10225050">
                  <a:moveTo>
                    <a:pt x="5351851" y="59690"/>
                  </a:moveTo>
                  <a:cubicBezTo>
                    <a:pt x="5387411" y="59690"/>
                    <a:pt x="5416621" y="88900"/>
                    <a:pt x="5416621" y="124460"/>
                  </a:cubicBezTo>
                  <a:lnTo>
                    <a:pt x="5416621" y="10100590"/>
                  </a:lnTo>
                  <a:cubicBezTo>
                    <a:pt x="5416621" y="10136150"/>
                    <a:pt x="5387411" y="10165360"/>
                    <a:pt x="5351851" y="10165360"/>
                  </a:cubicBezTo>
                  <a:lnTo>
                    <a:pt x="124460" y="10165360"/>
                  </a:lnTo>
                  <a:cubicBezTo>
                    <a:pt x="88900" y="10165360"/>
                    <a:pt x="59690" y="10136150"/>
                    <a:pt x="59690" y="1010059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351851" y="59690"/>
                  </a:lnTo>
                  <a:moveTo>
                    <a:pt x="53518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100590"/>
                  </a:lnTo>
                  <a:cubicBezTo>
                    <a:pt x="0" y="10169171"/>
                    <a:pt x="55880" y="10225050"/>
                    <a:pt x="124460" y="10225050"/>
                  </a:cubicBezTo>
                  <a:lnTo>
                    <a:pt x="5351851" y="10225050"/>
                  </a:lnTo>
                  <a:cubicBezTo>
                    <a:pt x="5420431" y="10225050"/>
                    <a:pt x="5476311" y="10169171"/>
                    <a:pt x="5476311" y="10100590"/>
                  </a:cubicBezTo>
                  <a:lnTo>
                    <a:pt x="5476311" y="124460"/>
                  </a:lnTo>
                  <a:cubicBezTo>
                    <a:pt x="5476311" y="55880"/>
                    <a:pt x="5420431" y="0"/>
                    <a:pt x="5351851" y="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1" name="TextBox 11"/>
          <p:cNvSpPr txBox="1"/>
          <p:nvPr/>
        </p:nvSpPr>
        <p:spPr>
          <a:xfrm>
            <a:off x="1622638" y="3993163"/>
            <a:ext cx="2832153" cy="33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endParaRPr lang="en-US" sz="2311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-888559" y="3385854"/>
            <a:ext cx="5033066" cy="977678"/>
            <a:chOff x="-191764" y="141333"/>
            <a:chExt cx="4228427" cy="1303571"/>
          </a:xfrm>
        </p:grpSpPr>
        <p:sp>
          <p:nvSpPr>
            <p:cNvPr id="13" name="Freeform 13"/>
            <p:cNvSpPr/>
            <p:nvPr/>
          </p:nvSpPr>
          <p:spPr>
            <a:xfrm>
              <a:off x="-191764" y="627025"/>
              <a:ext cx="3299713" cy="817879"/>
            </a:xfrm>
            <a:custGeom>
              <a:avLst/>
              <a:gdLst/>
              <a:ahLst/>
              <a:cxnLst/>
              <a:rect l="l" t="t" r="r" b="b"/>
              <a:pathLst>
                <a:path w="3299713" h="817879">
                  <a:moveTo>
                    <a:pt x="0" y="0"/>
                  </a:moveTo>
                  <a:lnTo>
                    <a:pt x="3299713" y="0"/>
                  </a:lnTo>
                  <a:lnTo>
                    <a:pt x="3299713" y="817879"/>
                  </a:lnTo>
                  <a:lnTo>
                    <a:pt x="0" y="817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36950" y="141333"/>
              <a:ext cx="3299713" cy="8369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2999"/>
                </a:lnSpc>
              </a:pPr>
              <a:r>
                <a:rPr lang="en-US" sz="3600" b="1" dirty="0">
                  <a:solidFill>
                    <a:srgbClr val="19191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Resources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251831" y="3109357"/>
            <a:ext cx="3982503" cy="7222088"/>
            <a:chOff x="0" y="0"/>
            <a:chExt cx="5618868" cy="1038116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7" name="Freeform 17"/>
            <p:cNvSpPr/>
            <p:nvPr/>
          </p:nvSpPr>
          <p:spPr>
            <a:xfrm>
              <a:off x="31749" y="31750"/>
              <a:ext cx="5587119" cy="10349412"/>
            </a:xfrm>
            <a:custGeom>
              <a:avLst/>
              <a:gdLst/>
              <a:ahLst/>
              <a:cxnLst/>
              <a:rect l="l" t="t" r="r" b="b"/>
              <a:pathLst>
                <a:path w="5411569" h="10161550">
                  <a:moveTo>
                    <a:pt x="5320101" y="10161550"/>
                  </a:moveTo>
                  <a:lnTo>
                    <a:pt x="92710" y="10161550"/>
                  </a:lnTo>
                  <a:cubicBezTo>
                    <a:pt x="41910" y="10161550"/>
                    <a:pt x="0" y="10119640"/>
                    <a:pt x="0" y="1006884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318831" y="0"/>
                  </a:lnTo>
                  <a:cubicBezTo>
                    <a:pt x="5369631" y="0"/>
                    <a:pt x="5411541" y="41910"/>
                    <a:pt x="5411541" y="92710"/>
                  </a:cubicBezTo>
                  <a:lnTo>
                    <a:pt x="5411541" y="10067571"/>
                  </a:lnTo>
                  <a:cubicBezTo>
                    <a:pt x="5412811" y="10119640"/>
                    <a:pt x="5370901" y="10161550"/>
                    <a:pt x="5320101" y="10161550"/>
                  </a:cubicBezTo>
                  <a:close/>
                </a:path>
              </a:pathLst>
            </a:custGeom>
            <a:grpFill/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5476311" cy="10225050"/>
            </a:xfrm>
            <a:custGeom>
              <a:avLst/>
              <a:gdLst/>
              <a:ahLst/>
              <a:cxnLst/>
              <a:rect l="l" t="t" r="r" b="b"/>
              <a:pathLst>
                <a:path w="5476311" h="10225050">
                  <a:moveTo>
                    <a:pt x="5351851" y="59690"/>
                  </a:moveTo>
                  <a:cubicBezTo>
                    <a:pt x="5387411" y="59690"/>
                    <a:pt x="5416621" y="88900"/>
                    <a:pt x="5416621" y="124460"/>
                  </a:cubicBezTo>
                  <a:lnTo>
                    <a:pt x="5416621" y="10100590"/>
                  </a:lnTo>
                  <a:cubicBezTo>
                    <a:pt x="5416621" y="10136150"/>
                    <a:pt x="5387411" y="10165360"/>
                    <a:pt x="5351851" y="10165360"/>
                  </a:cubicBezTo>
                  <a:lnTo>
                    <a:pt x="124460" y="10165360"/>
                  </a:lnTo>
                  <a:cubicBezTo>
                    <a:pt x="88900" y="10165360"/>
                    <a:pt x="59690" y="10136150"/>
                    <a:pt x="59690" y="1010059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351851" y="59690"/>
                  </a:lnTo>
                  <a:moveTo>
                    <a:pt x="535185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100590"/>
                  </a:lnTo>
                  <a:cubicBezTo>
                    <a:pt x="0" y="10169171"/>
                    <a:pt x="55880" y="10225050"/>
                    <a:pt x="124460" y="10225050"/>
                  </a:cubicBezTo>
                  <a:lnTo>
                    <a:pt x="5351851" y="10225050"/>
                  </a:lnTo>
                  <a:cubicBezTo>
                    <a:pt x="5420431" y="10225050"/>
                    <a:pt x="5476311" y="10169171"/>
                    <a:pt x="5476311" y="10100590"/>
                  </a:cubicBezTo>
                  <a:lnTo>
                    <a:pt x="5476311" y="124460"/>
                  </a:lnTo>
                  <a:cubicBezTo>
                    <a:pt x="5476311" y="55880"/>
                    <a:pt x="5420431" y="0"/>
                    <a:pt x="5351851" y="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23" name="TextBox 23"/>
          <p:cNvSpPr txBox="1"/>
          <p:nvPr/>
        </p:nvSpPr>
        <p:spPr>
          <a:xfrm>
            <a:off x="13830836" y="3730103"/>
            <a:ext cx="2893942" cy="105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endParaRPr lang="en-US" sz="2311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774"/>
              </a:lnSpc>
            </a:pPr>
            <a:endParaRPr lang="en-US" sz="2311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774"/>
              </a:lnSpc>
            </a:pPr>
            <a:endParaRPr lang="en-US" sz="2311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4776083" y="-95091"/>
            <a:ext cx="3341970" cy="613409"/>
          </a:xfrm>
          <a:custGeom>
            <a:avLst/>
            <a:gdLst/>
            <a:ahLst/>
            <a:cxnLst/>
            <a:rect l="l" t="t" r="r" b="b"/>
            <a:pathLst>
              <a:path w="3851283" h="817879">
                <a:moveTo>
                  <a:pt x="0" y="0"/>
                </a:moveTo>
                <a:lnTo>
                  <a:pt x="3851283" y="0"/>
                </a:lnTo>
                <a:lnTo>
                  <a:pt x="3851283" y="817879"/>
                </a:lnTo>
                <a:lnTo>
                  <a:pt x="0" y="8178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0" name="TextBox 40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41" name="TextBox 41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AB3C4340-E71D-A7E8-35D2-6621A9BF9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377" y="7877976"/>
            <a:ext cx="794084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       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35F2DF-7D0E-B877-3890-87CA53F9B9BA}"/>
              </a:ext>
            </a:extLst>
          </p:cNvPr>
          <p:cNvSpPr txBox="1"/>
          <p:nvPr/>
        </p:nvSpPr>
        <p:spPr>
          <a:xfrm>
            <a:off x="244958" y="4269083"/>
            <a:ext cx="3018282" cy="56323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b="1" dirty="0"/>
              <a:t>•Rechargeable battery &amp; holder</a:t>
            </a:r>
          </a:p>
          <a:p>
            <a:r>
              <a:rPr lang="en-US" sz="3600" b="1" dirty="0"/>
              <a:t>• Boost/USB module, voltmeter, switch</a:t>
            </a:r>
          </a:p>
          <a:p>
            <a:r>
              <a:rPr lang="en-US" sz="3600" b="1" dirty="0"/>
              <a:t>• Basic wiring tools for assembly</a:t>
            </a:r>
            <a:endParaRPr lang="en-IN" sz="3600" b="1" dirty="0"/>
          </a:p>
        </p:txBody>
      </p:sp>
      <p:sp>
        <p:nvSpPr>
          <p:cNvPr id="42" name="Freeform 28"/>
          <p:cNvSpPr/>
          <p:nvPr/>
        </p:nvSpPr>
        <p:spPr>
          <a:xfrm>
            <a:off x="5740782" y="2472010"/>
            <a:ext cx="3352800" cy="862223"/>
          </a:xfrm>
          <a:custGeom>
            <a:avLst/>
            <a:gdLst/>
            <a:ahLst/>
            <a:cxnLst/>
            <a:rect l="l" t="t" r="r" b="b"/>
            <a:pathLst>
              <a:path w="3174667" h="817879">
                <a:moveTo>
                  <a:pt x="0" y="0"/>
                </a:moveTo>
                <a:lnTo>
                  <a:pt x="3174667" y="0"/>
                </a:lnTo>
                <a:lnTo>
                  <a:pt x="3174667" y="817879"/>
                </a:lnTo>
                <a:lnTo>
                  <a:pt x="0" y="8178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7CF3EB-EB45-8BEE-8ED8-7BA79E6E57A4}"/>
              </a:ext>
            </a:extLst>
          </p:cNvPr>
          <p:cNvSpPr txBox="1"/>
          <p:nvPr/>
        </p:nvSpPr>
        <p:spPr>
          <a:xfrm>
            <a:off x="6422952" y="3887247"/>
            <a:ext cx="4321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Total cost :₹ 800</a:t>
            </a:r>
            <a:endParaRPr lang="en-IN" sz="3600" b="1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7622C52-8F21-A2F3-6A71-7AFC3F31872F}"/>
              </a:ext>
            </a:extLst>
          </p:cNvPr>
          <p:cNvSpPr/>
          <p:nvPr/>
        </p:nvSpPr>
        <p:spPr>
          <a:xfrm>
            <a:off x="5145769" y="1777210"/>
            <a:ext cx="7416000" cy="3240000"/>
          </a:xfrm>
          <a:prstGeom prst="roundRect">
            <a:avLst>
              <a:gd name="adj" fmla="val 6319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29"/>
          <p:cNvSpPr txBox="1"/>
          <p:nvPr/>
        </p:nvSpPr>
        <p:spPr>
          <a:xfrm>
            <a:off x="6707422" y="1807654"/>
            <a:ext cx="4427928" cy="8823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just">
              <a:lnSpc>
                <a:spcPts val="2999"/>
              </a:lnSpc>
            </a:pPr>
            <a:r>
              <a:rPr lang="en-US" sz="3600" b="1" dirty="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Cost     Structure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CF977A-EF97-2964-BF3D-5075EDD894C4}"/>
              </a:ext>
            </a:extLst>
          </p:cNvPr>
          <p:cNvSpPr txBox="1"/>
          <p:nvPr/>
        </p:nvSpPr>
        <p:spPr>
          <a:xfrm>
            <a:off x="15138121" y="3027099"/>
            <a:ext cx="2675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Customer </a:t>
            </a:r>
            <a:r>
              <a:rPr lang="en-US" sz="3600" b="1" dirty="0">
                <a:latin typeface="Poppins Bold" panose="00000800000000000000" charset="0"/>
                <a:cs typeface="Poppins Bold" panose="00000800000000000000" charset="0"/>
              </a:rPr>
              <a:t>segment</a:t>
            </a:r>
            <a:endParaRPr lang="en-IN" sz="3600" b="1" dirty="0">
              <a:latin typeface="Poppins Bold" panose="00000800000000000000" charset="0"/>
              <a:cs typeface="Poppins Bold" panose="00000800000000000000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4033299-A10D-9475-70A0-16755A19720E}"/>
              </a:ext>
            </a:extLst>
          </p:cNvPr>
          <p:cNvSpPr/>
          <p:nvPr/>
        </p:nvSpPr>
        <p:spPr>
          <a:xfrm>
            <a:off x="5173843" y="7091445"/>
            <a:ext cx="7416000" cy="3240000"/>
          </a:xfrm>
          <a:prstGeom prst="roundRect">
            <a:avLst>
              <a:gd name="adj" fmla="val 7545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FD7661-DCC7-72CC-6F58-6A957C50A5EB}"/>
              </a:ext>
            </a:extLst>
          </p:cNvPr>
          <p:cNvSpPr txBox="1"/>
          <p:nvPr/>
        </p:nvSpPr>
        <p:spPr>
          <a:xfrm>
            <a:off x="5145769" y="8208792"/>
            <a:ext cx="76878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DIY kits  and training workshops.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School bundles and custom builds for NGOs/businesses.</a:t>
            </a:r>
            <a:endParaRPr lang="en-IN" sz="3600" b="1" dirty="0"/>
          </a:p>
        </p:txBody>
      </p:sp>
      <p:sp>
        <p:nvSpPr>
          <p:cNvPr id="56" name="TextBox 37"/>
          <p:cNvSpPr txBox="1"/>
          <p:nvPr/>
        </p:nvSpPr>
        <p:spPr>
          <a:xfrm>
            <a:off x="6358649" y="7283637"/>
            <a:ext cx="4492231" cy="6276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just">
              <a:lnSpc>
                <a:spcPts val="2999"/>
              </a:lnSpc>
            </a:pPr>
            <a:r>
              <a:rPr lang="en-US" sz="3600" b="1" dirty="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Streams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690988-0AC9-F5EA-CA4B-0D7A8EEE3B5C}"/>
              </a:ext>
            </a:extLst>
          </p:cNvPr>
          <p:cNvSpPr txBox="1"/>
          <p:nvPr/>
        </p:nvSpPr>
        <p:spPr>
          <a:xfrm>
            <a:off x="6671950" y="2894191"/>
            <a:ext cx="6408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Total cost: ₹ 800</a:t>
            </a:r>
            <a:endParaRPr lang="en-IN" sz="36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E67CD7-4E65-F546-019A-0599D3D1DFC3}"/>
              </a:ext>
            </a:extLst>
          </p:cNvPr>
          <p:cNvSpPr txBox="1"/>
          <p:nvPr/>
        </p:nvSpPr>
        <p:spPr>
          <a:xfrm>
            <a:off x="14331675" y="4533578"/>
            <a:ext cx="41030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sz="3600" b="1" dirty="0"/>
              <a:t>Households with power cuts</a:t>
            </a:r>
          </a:p>
          <a:p>
            <a:r>
              <a:rPr lang="en-US" sz="3600" b="1" dirty="0"/>
              <a:t>2.   Students &amp; DIY    </a:t>
            </a:r>
          </a:p>
          <a:p>
            <a:r>
              <a:rPr lang="en-US" sz="3600" b="1" dirty="0"/>
              <a:t>       users</a:t>
            </a:r>
          </a:p>
          <a:p>
            <a:pPr marL="742950" indent="-742950">
              <a:buAutoNum type="arabicPeriod" startAt="3"/>
            </a:pPr>
            <a:r>
              <a:rPr lang="en-US" sz="3600" b="1" dirty="0"/>
              <a:t>Outdoor users &amp;   small vendors</a:t>
            </a:r>
            <a:endParaRPr lang="en-IN" sz="3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96104" y="-1609169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6833" y="-1527860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68651" y="8203500"/>
            <a:ext cx="18356651" cy="2135510"/>
            <a:chOff x="-18081" y="-57150"/>
            <a:chExt cx="4834674" cy="562439"/>
          </a:xfrm>
        </p:grpSpPr>
        <p:sp>
          <p:nvSpPr>
            <p:cNvPr id="6" name="Freeform 6"/>
            <p:cNvSpPr/>
            <p:nvPr/>
          </p:nvSpPr>
          <p:spPr>
            <a:xfrm>
              <a:off x="-18081" y="13698"/>
              <a:ext cx="4816592" cy="491591"/>
            </a:xfrm>
            <a:custGeom>
              <a:avLst/>
              <a:gdLst/>
              <a:ahLst/>
              <a:cxnLst/>
              <a:rect l="l" t="t" r="r" b="b"/>
              <a:pathLst>
                <a:path w="4816592" h="491591">
                  <a:moveTo>
                    <a:pt x="0" y="0"/>
                  </a:moveTo>
                  <a:lnTo>
                    <a:pt x="4816592" y="0"/>
                  </a:lnTo>
                  <a:lnTo>
                    <a:pt x="4816592" y="491591"/>
                  </a:lnTo>
                  <a:lnTo>
                    <a:pt x="0" y="491591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548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953378" y="6573680"/>
            <a:ext cx="4634872" cy="4390488"/>
          </a:xfrm>
          <a:custGeom>
            <a:avLst/>
            <a:gdLst/>
            <a:ahLst/>
            <a:cxnLst/>
            <a:rect l="l" t="t" r="r" b="b"/>
            <a:pathLst>
              <a:path w="4634872" h="4390488">
                <a:moveTo>
                  <a:pt x="0" y="0"/>
                </a:moveTo>
                <a:lnTo>
                  <a:pt x="4634872" y="0"/>
                </a:lnTo>
                <a:lnTo>
                  <a:pt x="4634872" y="4390488"/>
                </a:lnTo>
                <a:lnTo>
                  <a:pt x="0" y="4390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699" y="8285792"/>
            <a:ext cx="11719919" cy="158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019"/>
              </a:lnSpc>
              <a:spcBef>
                <a:spcPct val="0"/>
              </a:spcBef>
            </a:pPr>
            <a:r>
              <a:rPr lang="en-US" sz="9299" b="1" dirty="0">
                <a:solidFill>
                  <a:srgbClr val="EDE5DE"/>
                </a:solidFill>
                <a:latin typeface="Poppins Bold"/>
                <a:ea typeface="Poppins Bold"/>
                <a:cs typeface="Poppins Bold"/>
                <a:sym typeface="Poppins Bold"/>
              </a:rPr>
              <a:t>CIRCUIT DIAGRAM</a:t>
            </a:r>
          </a:p>
        </p:txBody>
      </p:sp>
      <p:sp>
        <p:nvSpPr>
          <p:cNvPr id="10" name="Freeform 10"/>
          <p:cNvSpPr/>
          <p:nvPr/>
        </p:nvSpPr>
        <p:spPr>
          <a:xfrm rot="-9784422">
            <a:off x="16123204" y="-1539607"/>
            <a:ext cx="3236515" cy="4114800"/>
          </a:xfrm>
          <a:custGeom>
            <a:avLst/>
            <a:gdLst/>
            <a:ahLst/>
            <a:cxnLst/>
            <a:rect l="l" t="t" r="r" b="b"/>
            <a:pathLst>
              <a:path w="3236515" h="4114800">
                <a:moveTo>
                  <a:pt x="0" y="0"/>
                </a:moveTo>
                <a:lnTo>
                  <a:pt x="3236515" y="0"/>
                </a:lnTo>
                <a:lnTo>
                  <a:pt x="32365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405D1EBE-2D00-A74B-0125-2152781AF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37A0A85-AEB3-278B-9F01-5DBE17B8A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700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B28FE2E3-B11B-834D-940F-DB2C3A190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734286"/>
            <a:ext cx="2501006" cy="981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6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4FDD080-D752-BE00-6206-F81EB1140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4659"/>
            <a:ext cx="3129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03A0EA-F439-F925-845E-39E52B4773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200" y="191449"/>
            <a:ext cx="12192000" cy="8124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B8D7C-BA87-D6B9-CF89-937FFD2F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BF0E97-AF3C-E29A-AA41-1B9710CB3D78}"/>
              </a:ext>
            </a:extLst>
          </p:cNvPr>
          <p:cNvSpPr/>
          <p:nvPr/>
        </p:nvSpPr>
        <p:spPr>
          <a:xfrm>
            <a:off x="12596104" y="-1609169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B9AE5B6-66B0-A33B-5E01-F8473F237536}"/>
              </a:ext>
            </a:extLst>
          </p:cNvPr>
          <p:cNvSpPr/>
          <p:nvPr/>
        </p:nvSpPr>
        <p:spPr>
          <a:xfrm>
            <a:off x="-28575" y="-219029"/>
            <a:ext cx="12605629" cy="12605629"/>
          </a:xfrm>
          <a:custGeom>
            <a:avLst/>
            <a:gdLst/>
            <a:ahLst/>
            <a:cxnLst/>
            <a:rect l="l" t="t" r="r" b="b"/>
            <a:pathLst>
              <a:path w="12605629" h="12605629">
                <a:moveTo>
                  <a:pt x="0" y="0"/>
                </a:moveTo>
                <a:lnTo>
                  <a:pt x="12605629" y="0"/>
                </a:lnTo>
                <a:lnTo>
                  <a:pt x="12605629" y="12605629"/>
                </a:lnTo>
                <a:lnTo>
                  <a:pt x="0" y="12605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C13BD40-86D3-FD46-6EB5-AC8991FD04F5}"/>
              </a:ext>
            </a:extLst>
          </p:cNvPr>
          <p:cNvGrpSpPr/>
          <p:nvPr/>
        </p:nvGrpSpPr>
        <p:grpSpPr>
          <a:xfrm>
            <a:off x="0" y="8420491"/>
            <a:ext cx="18288000" cy="1866509"/>
            <a:chOff x="0" y="0"/>
            <a:chExt cx="4816593" cy="49159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34DD49-AA3E-2475-35D2-663AF57E440B}"/>
                </a:ext>
              </a:extLst>
            </p:cNvPr>
            <p:cNvSpPr/>
            <p:nvPr/>
          </p:nvSpPr>
          <p:spPr>
            <a:xfrm>
              <a:off x="0" y="0"/>
              <a:ext cx="4816592" cy="491591"/>
            </a:xfrm>
            <a:custGeom>
              <a:avLst/>
              <a:gdLst/>
              <a:ahLst/>
              <a:cxnLst/>
              <a:rect l="l" t="t" r="r" b="b"/>
              <a:pathLst>
                <a:path w="4816592" h="491591">
                  <a:moveTo>
                    <a:pt x="0" y="0"/>
                  </a:moveTo>
                  <a:lnTo>
                    <a:pt x="4816592" y="0"/>
                  </a:lnTo>
                  <a:lnTo>
                    <a:pt x="4816592" y="491591"/>
                  </a:lnTo>
                  <a:lnTo>
                    <a:pt x="0" y="491591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3CBE12B-EBE6-F39B-6B60-83A848658DD3}"/>
                </a:ext>
              </a:extLst>
            </p:cNvPr>
            <p:cNvSpPr txBox="1"/>
            <p:nvPr/>
          </p:nvSpPr>
          <p:spPr>
            <a:xfrm>
              <a:off x="0" y="-57150"/>
              <a:ext cx="4816593" cy="548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E449967-5F45-D79F-A546-6DBF245E8CF1}"/>
              </a:ext>
            </a:extLst>
          </p:cNvPr>
          <p:cNvSpPr/>
          <p:nvPr/>
        </p:nvSpPr>
        <p:spPr>
          <a:xfrm>
            <a:off x="12953378" y="6573680"/>
            <a:ext cx="4634872" cy="4390488"/>
          </a:xfrm>
          <a:custGeom>
            <a:avLst/>
            <a:gdLst/>
            <a:ahLst/>
            <a:cxnLst/>
            <a:rect l="l" t="t" r="r" b="b"/>
            <a:pathLst>
              <a:path w="4634872" h="4390488">
                <a:moveTo>
                  <a:pt x="0" y="0"/>
                </a:moveTo>
                <a:lnTo>
                  <a:pt x="4634872" y="0"/>
                </a:lnTo>
                <a:lnTo>
                  <a:pt x="4634872" y="4390488"/>
                </a:lnTo>
                <a:lnTo>
                  <a:pt x="0" y="4390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2275BE7-A2D2-B90C-7566-48797B129AC9}"/>
              </a:ext>
            </a:extLst>
          </p:cNvPr>
          <p:cNvSpPr/>
          <p:nvPr/>
        </p:nvSpPr>
        <p:spPr>
          <a:xfrm rot="-9784422">
            <a:off x="16123204" y="-1539607"/>
            <a:ext cx="3236515" cy="4114800"/>
          </a:xfrm>
          <a:custGeom>
            <a:avLst/>
            <a:gdLst/>
            <a:ahLst/>
            <a:cxnLst/>
            <a:rect l="l" t="t" r="r" b="b"/>
            <a:pathLst>
              <a:path w="3236515" h="4114800">
                <a:moveTo>
                  <a:pt x="0" y="0"/>
                </a:moveTo>
                <a:lnTo>
                  <a:pt x="3236515" y="0"/>
                </a:lnTo>
                <a:lnTo>
                  <a:pt x="32365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B799A0-C36B-99E9-F15F-514684256B88}"/>
              </a:ext>
            </a:extLst>
          </p:cNvPr>
          <p:cNvSpPr txBox="1"/>
          <p:nvPr/>
        </p:nvSpPr>
        <p:spPr>
          <a:xfrm>
            <a:off x="120052" y="138645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113DD52-7456-12FB-9914-744CC106488B}"/>
              </a:ext>
            </a:extLst>
          </p:cNvPr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DAC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25E6AAC5-387A-F895-E2F9-D1152EC11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69EB61E4-C3D0-00B6-611A-45A2B34B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700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72557823-CF61-868A-9DEE-35CE30186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734286"/>
            <a:ext cx="2501006" cy="981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6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3FFF5342-E496-B40A-D3D2-C16C32B0B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24659"/>
            <a:ext cx="3129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67E04-69BC-644C-826C-582AC93865F1}"/>
              </a:ext>
            </a:extLst>
          </p:cNvPr>
          <p:cNvSpPr txBox="1"/>
          <p:nvPr/>
        </p:nvSpPr>
        <p:spPr>
          <a:xfrm>
            <a:off x="739479" y="4673163"/>
            <a:ext cx="126301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Future Scope &amp; Next Steps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EEA80-A803-18E7-7E0E-8254D9E24C3B}"/>
              </a:ext>
            </a:extLst>
          </p:cNvPr>
          <p:cNvSpPr txBox="1"/>
          <p:nvPr/>
        </p:nvSpPr>
        <p:spPr>
          <a:xfrm>
            <a:off x="740344" y="718584"/>
            <a:ext cx="126658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Tech &amp; Component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81495-57A4-0E88-E8BC-4E5F1F58E1DC}"/>
              </a:ext>
            </a:extLst>
          </p:cNvPr>
          <p:cNvSpPr txBox="1"/>
          <p:nvPr/>
        </p:nvSpPr>
        <p:spPr>
          <a:xfrm>
            <a:off x="947110" y="5339909"/>
            <a:ext cx="1268015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• Add solar charging input</a:t>
            </a:r>
          </a:p>
          <a:p>
            <a:r>
              <a:rPr lang="en-US" sz="4000" dirty="0"/>
              <a:t>• Integrate LiFePO4 cells for higher safety</a:t>
            </a:r>
          </a:p>
          <a:p>
            <a:r>
              <a:rPr lang="en-US" sz="4000" dirty="0"/>
              <a:t>• Add digital wattmeter for current monitoring</a:t>
            </a:r>
          </a:p>
          <a:p>
            <a:r>
              <a:rPr lang="en-US" sz="4000" dirty="0"/>
              <a:t>• Add enclosure for durability</a:t>
            </a:r>
          </a:p>
          <a:p>
            <a:r>
              <a:rPr lang="en-US" sz="4000" dirty="0"/>
              <a:t>• Increase battery capacity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D76135-DBEB-BEE3-CBCB-7D98B5A3410D}"/>
              </a:ext>
            </a:extLst>
          </p:cNvPr>
          <p:cNvSpPr txBox="1"/>
          <p:nvPr/>
        </p:nvSpPr>
        <p:spPr>
          <a:xfrm>
            <a:off x="990948" y="1493038"/>
            <a:ext cx="1268015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Converters:       </a:t>
            </a:r>
            <a:r>
              <a:rPr lang="en-US" sz="4000" dirty="0"/>
              <a:t>XL6009 Boost Module</a:t>
            </a:r>
          </a:p>
          <a:p>
            <a:r>
              <a:rPr lang="en-US" sz="4000" b="1" dirty="0"/>
              <a:t>Power Source:  </a:t>
            </a:r>
            <a:r>
              <a:rPr lang="en-US" sz="4000" dirty="0"/>
              <a:t>2 Li‑ion Cells</a:t>
            </a:r>
          </a:p>
          <a:p>
            <a:r>
              <a:rPr lang="en-US" sz="4000" b="1" dirty="0"/>
              <a:t>Display:              </a:t>
            </a:r>
            <a:r>
              <a:rPr lang="en-US" sz="4000" dirty="0"/>
              <a:t>Digital Voltmeter</a:t>
            </a:r>
          </a:p>
          <a:p>
            <a:r>
              <a:rPr lang="en-US" sz="4000" b="1" dirty="0"/>
              <a:t>Charging:           </a:t>
            </a:r>
            <a:r>
              <a:rPr lang="en-US" sz="4000" dirty="0"/>
              <a:t>USB Power Bank Module</a:t>
            </a:r>
          </a:p>
          <a:p>
            <a:r>
              <a:rPr lang="en-US" sz="4000" b="1" dirty="0"/>
              <a:t>Body:                  </a:t>
            </a:r>
            <a:r>
              <a:rPr lang="en-US" sz="4000" dirty="0"/>
              <a:t>Acrylic Base</a:t>
            </a:r>
          </a:p>
        </p:txBody>
      </p:sp>
    </p:spTree>
    <p:extLst>
      <p:ext uri="{BB962C8B-B14F-4D97-AF65-F5344CB8AC3E}">
        <p14:creationId xmlns:p14="http://schemas.microsoft.com/office/powerpoint/2010/main" val="425415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2327"/>
            <a:ext cx="18288000" cy="3994736"/>
            <a:chOff x="0" y="0"/>
            <a:chExt cx="4816593" cy="1052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52111"/>
            </a:xfrm>
            <a:custGeom>
              <a:avLst/>
              <a:gdLst/>
              <a:ahLst/>
              <a:cxnLst/>
              <a:rect l="l" t="t" r="r" b="b"/>
              <a:pathLst>
                <a:path w="4816592" h="1052111">
                  <a:moveTo>
                    <a:pt x="0" y="0"/>
                  </a:moveTo>
                  <a:lnTo>
                    <a:pt x="4816592" y="0"/>
                  </a:lnTo>
                  <a:lnTo>
                    <a:pt x="4816592" y="1052111"/>
                  </a:lnTo>
                  <a:lnTo>
                    <a:pt x="0" y="1052111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10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092166"/>
            <a:ext cx="18288000" cy="194834"/>
            <a:chOff x="0" y="0"/>
            <a:chExt cx="4816593" cy="51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1314"/>
            </a:xfrm>
            <a:custGeom>
              <a:avLst/>
              <a:gdLst/>
              <a:ahLst/>
              <a:cxnLst/>
              <a:rect l="l" t="t" r="r" b="b"/>
              <a:pathLst>
                <a:path w="4816592" h="51314">
                  <a:moveTo>
                    <a:pt x="0" y="0"/>
                  </a:moveTo>
                  <a:lnTo>
                    <a:pt x="4816592" y="0"/>
                  </a:lnTo>
                  <a:lnTo>
                    <a:pt x="4816592" y="51314"/>
                  </a:lnTo>
                  <a:lnTo>
                    <a:pt x="0" y="51314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108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9806388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5123982" y="5694581"/>
            <a:ext cx="8040036" cy="138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99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24007" y="6955547"/>
            <a:ext cx="42375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499">
                <a:solidFill>
                  <a:srgbClr val="1A2526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Do you have any queries?</a:t>
            </a:r>
          </a:p>
        </p:txBody>
      </p:sp>
      <p:sp>
        <p:nvSpPr>
          <p:cNvPr id="11" name="Freeform 11"/>
          <p:cNvSpPr/>
          <p:nvPr/>
        </p:nvSpPr>
        <p:spPr>
          <a:xfrm>
            <a:off x="5919043" y="378343"/>
            <a:ext cx="6449914" cy="4972297"/>
          </a:xfrm>
          <a:custGeom>
            <a:avLst/>
            <a:gdLst/>
            <a:ahLst/>
            <a:cxnLst/>
            <a:rect l="l" t="t" r="r" b="b"/>
            <a:pathLst>
              <a:path w="6449914" h="4972297">
                <a:moveTo>
                  <a:pt x="0" y="0"/>
                </a:moveTo>
                <a:lnTo>
                  <a:pt x="6449914" y="0"/>
                </a:lnTo>
                <a:lnTo>
                  <a:pt x="6449914" y="4972297"/>
                </a:lnTo>
                <a:lnTo>
                  <a:pt x="0" y="4972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75883" y="5865750"/>
            <a:ext cx="4712242" cy="4617997"/>
          </a:xfrm>
          <a:custGeom>
            <a:avLst/>
            <a:gdLst/>
            <a:ahLst/>
            <a:cxnLst/>
            <a:rect l="l" t="t" r="r" b="b"/>
            <a:pathLst>
              <a:path w="4712242" h="4617997">
                <a:moveTo>
                  <a:pt x="0" y="0"/>
                </a:moveTo>
                <a:lnTo>
                  <a:pt x="4712242" y="0"/>
                </a:lnTo>
                <a:lnTo>
                  <a:pt x="4712242" y="4617997"/>
                </a:lnTo>
                <a:lnTo>
                  <a:pt x="0" y="4617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38514" y="1731571"/>
            <a:ext cx="650068" cy="825722"/>
          </a:xfrm>
          <a:custGeom>
            <a:avLst/>
            <a:gdLst/>
            <a:ahLst/>
            <a:cxnLst/>
            <a:rect l="l" t="t" r="r" b="b"/>
            <a:pathLst>
              <a:path w="650068" h="825722">
                <a:moveTo>
                  <a:pt x="0" y="0"/>
                </a:moveTo>
                <a:lnTo>
                  <a:pt x="650068" y="0"/>
                </a:lnTo>
                <a:lnTo>
                  <a:pt x="650068" y="825722"/>
                </a:lnTo>
                <a:lnTo>
                  <a:pt x="0" y="82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822621" y="4760708"/>
            <a:ext cx="602723" cy="765583"/>
          </a:xfrm>
          <a:custGeom>
            <a:avLst/>
            <a:gdLst/>
            <a:ahLst/>
            <a:cxnLst/>
            <a:rect l="l" t="t" r="r" b="b"/>
            <a:pathLst>
              <a:path w="602723" h="765583">
                <a:moveTo>
                  <a:pt x="0" y="0"/>
                </a:moveTo>
                <a:lnTo>
                  <a:pt x="602722" y="0"/>
                </a:lnTo>
                <a:lnTo>
                  <a:pt x="602722" y="765584"/>
                </a:lnTo>
                <a:lnTo>
                  <a:pt x="0" y="765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0671963">
            <a:off x="3729662" y="4521680"/>
            <a:ext cx="487830" cy="619645"/>
          </a:xfrm>
          <a:custGeom>
            <a:avLst/>
            <a:gdLst/>
            <a:ahLst/>
            <a:cxnLst/>
            <a:rect l="l" t="t" r="r" b="b"/>
            <a:pathLst>
              <a:path w="487830" h="619645">
                <a:moveTo>
                  <a:pt x="0" y="0"/>
                </a:moveTo>
                <a:lnTo>
                  <a:pt x="487830" y="0"/>
                </a:lnTo>
                <a:lnTo>
                  <a:pt x="487830" y="619645"/>
                </a:lnTo>
                <a:lnTo>
                  <a:pt x="0" y="61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730621">
            <a:off x="13831402" y="2610434"/>
            <a:ext cx="452300" cy="574515"/>
          </a:xfrm>
          <a:custGeom>
            <a:avLst/>
            <a:gdLst/>
            <a:ahLst/>
            <a:cxnLst/>
            <a:rect l="l" t="t" r="r" b="b"/>
            <a:pathLst>
              <a:path w="452300" h="574515">
                <a:moveTo>
                  <a:pt x="0" y="0"/>
                </a:moveTo>
                <a:lnTo>
                  <a:pt x="452301" y="0"/>
                </a:lnTo>
                <a:lnTo>
                  <a:pt x="452301" y="574516"/>
                </a:lnTo>
                <a:lnTo>
                  <a:pt x="0" y="5745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4300" y="9182100"/>
            <a:ext cx="83507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A2526"/>
                </a:solidFill>
                <a:latin typeface="Poppins Bold"/>
                <a:ea typeface="Poppins Bold"/>
                <a:cs typeface="Poppins Bold"/>
                <a:sym typeface="Poppins Bold"/>
              </a:rPr>
              <a:t>CIE</a:t>
            </a:r>
            <a:r>
              <a:rPr lang="en-US" sz="2899" b="1">
                <a:solidFill>
                  <a:srgbClr val="E65E07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 rot="-5400000">
            <a:off x="17596132" y="9551988"/>
            <a:ext cx="83507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2526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596</Words>
  <Application>Microsoft Office PowerPoint</Application>
  <PresentationFormat>Custom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Aptos</vt:lpstr>
      <vt:lpstr>Playwrite US Modern</vt:lpstr>
      <vt:lpstr>Poppins</vt:lpstr>
      <vt:lpstr>Poppins Bold</vt:lpstr>
      <vt:lpstr>Arial Italics</vt:lpstr>
      <vt:lpstr>Arial Bold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 PPT TEMPLATE - 2025</dc:title>
  <dc:creator>surendra kumar</dc:creator>
  <cp:lastModifiedBy>Wasim Ali</cp:lastModifiedBy>
  <cp:revision>6</cp:revision>
  <dcterms:created xsi:type="dcterms:W3CDTF">2006-08-16T00:00:00Z</dcterms:created>
  <dcterms:modified xsi:type="dcterms:W3CDTF">2025-12-09T17:56:18Z</dcterms:modified>
  <dc:identifier>DAG0kR7W-fI</dc:identifier>
</cp:coreProperties>
</file>